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1"/>
  </p:sldMasterIdLst>
  <p:notesMasterIdLst>
    <p:notesMasterId r:id="rId11"/>
  </p:notesMasterIdLst>
  <p:sldIdLst>
    <p:sldId id="2076137361" r:id="rId2"/>
    <p:sldId id="2076137362" r:id="rId3"/>
    <p:sldId id="2076137363" r:id="rId4"/>
    <p:sldId id="2076137364" r:id="rId5"/>
    <p:sldId id="2076137368" r:id="rId6"/>
    <p:sldId id="2076137365" r:id="rId7"/>
    <p:sldId id="2076137366" r:id="rId8"/>
    <p:sldId id="2076137367" r:id="rId9"/>
    <p:sldId id="2076137369"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74633"/>
    <a:srgbClr val="0E27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65"/>
    <p:restoredTop sz="94669"/>
  </p:normalViewPr>
  <p:slideViewPr>
    <p:cSldViewPr snapToGrid="0">
      <p:cViewPr varScale="1">
        <p:scale>
          <a:sx n="135" d="100"/>
          <a:sy n="135" d="100"/>
        </p:scale>
        <p:origin x="83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F90BA5-2E6F-6543-864B-176A2EABF444}" type="datetimeFigureOut">
              <a:rPr lang="en-US" smtClean="0"/>
              <a:t>9/18/25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95E04-C95F-584C-A1FA-CD7806AF3800}" type="slidenum">
              <a:rPr lang="en-US" smtClean="0"/>
              <a:t>‹#›</a:t>
            </a:fld>
            <a:endParaRPr lang="en-US"/>
          </a:p>
        </p:txBody>
      </p:sp>
    </p:spTree>
    <p:extLst>
      <p:ext uri="{BB962C8B-B14F-4D97-AF65-F5344CB8AC3E}">
        <p14:creationId xmlns:p14="http://schemas.microsoft.com/office/powerpoint/2010/main" val="104287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F3495-A0CB-CC2E-DD50-31032D7932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7B0BAF-77EB-8E9A-A292-4E1CED2CE5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E5F30D-1FD2-AA2D-FBCF-F408918D95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08217C-4819-F4BA-B93F-1B7B954087FA}"/>
              </a:ext>
            </a:extLst>
          </p:cNvPr>
          <p:cNvSpPr>
            <a:spLocks noGrp="1"/>
          </p:cNvSpPr>
          <p:nvPr>
            <p:ph type="sldNum" sz="quarter" idx="5"/>
          </p:nvPr>
        </p:nvSpPr>
        <p:spPr/>
        <p:txBody>
          <a:bodyPr/>
          <a:lstStyle/>
          <a:p>
            <a:fld id="{0E295E04-C95F-584C-A1FA-CD7806AF3800}" type="slidenum">
              <a:rPr lang="en-US" smtClean="0"/>
              <a:t>2</a:t>
            </a:fld>
            <a:endParaRPr lang="en-US"/>
          </a:p>
        </p:txBody>
      </p:sp>
    </p:spTree>
    <p:extLst>
      <p:ext uri="{BB962C8B-B14F-4D97-AF65-F5344CB8AC3E}">
        <p14:creationId xmlns:p14="http://schemas.microsoft.com/office/powerpoint/2010/main" val="853850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5B34E-666C-C047-CEDB-332BACEB8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19C2CF-F081-1657-25E4-630F4A07CE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B4B330-4460-8234-A4B6-D8A29F7C22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220DDE-F12C-BFA1-B829-CF2796AA9EEF}"/>
              </a:ext>
            </a:extLst>
          </p:cNvPr>
          <p:cNvSpPr>
            <a:spLocks noGrp="1"/>
          </p:cNvSpPr>
          <p:nvPr>
            <p:ph type="sldNum" sz="quarter" idx="5"/>
          </p:nvPr>
        </p:nvSpPr>
        <p:spPr/>
        <p:txBody>
          <a:bodyPr/>
          <a:lstStyle/>
          <a:p>
            <a:fld id="{0E295E04-C95F-584C-A1FA-CD7806AF3800}" type="slidenum">
              <a:rPr lang="en-US" smtClean="0"/>
              <a:t>3</a:t>
            </a:fld>
            <a:endParaRPr lang="en-US"/>
          </a:p>
        </p:txBody>
      </p:sp>
    </p:spTree>
    <p:extLst>
      <p:ext uri="{BB962C8B-B14F-4D97-AF65-F5344CB8AC3E}">
        <p14:creationId xmlns:p14="http://schemas.microsoft.com/office/powerpoint/2010/main" val="3997108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37652-C7F1-4D68-83EC-B14E713A1D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8AE286-40CA-B9AE-B895-7D0E335ABF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761169-D3A4-1648-D0B4-F0CA1CD2D8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882456-694C-FFEB-5F90-3701DFC85049}"/>
              </a:ext>
            </a:extLst>
          </p:cNvPr>
          <p:cNvSpPr>
            <a:spLocks noGrp="1"/>
          </p:cNvSpPr>
          <p:nvPr>
            <p:ph type="sldNum" sz="quarter" idx="5"/>
          </p:nvPr>
        </p:nvSpPr>
        <p:spPr/>
        <p:txBody>
          <a:bodyPr/>
          <a:lstStyle/>
          <a:p>
            <a:fld id="{0E295E04-C95F-584C-A1FA-CD7806AF3800}" type="slidenum">
              <a:rPr lang="en-US" smtClean="0"/>
              <a:t>4</a:t>
            </a:fld>
            <a:endParaRPr lang="en-US"/>
          </a:p>
        </p:txBody>
      </p:sp>
    </p:spTree>
    <p:extLst>
      <p:ext uri="{BB962C8B-B14F-4D97-AF65-F5344CB8AC3E}">
        <p14:creationId xmlns:p14="http://schemas.microsoft.com/office/powerpoint/2010/main" val="3193222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0351B-D829-30C7-18A0-224CB60EC2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501C39-2E85-F2F2-47CD-889057F2F4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6914B1-986B-D2EA-51EA-2596B62C9C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FF77CD-005A-D08F-45FF-5A1B3787A6F7}"/>
              </a:ext>
            </a:extLst>
          </p:cNvPr>
          <p:cNvSpPr>
            <a:spLocks noGrp="1"/>
          </p:cNvSpPr>
          <p:nvPr>
            <p:ph type="sldNum" sz="quarter" idx="5"/>
          </p:nvPr>
        </p:nvSpPr>
        <p:spPr/>
        <p:txBody>
          <a:bodyPr/>
          <a:lstStyle/>
          <a:p>
            <a:fld id="{0E295E04-C95F-584C-A1FA-CD7806AF3800}" type="slidenum">
              <a:rPr lang="en-US" smtClean="0"/>
              <a:t>5</a:t>
            </a:fld>
            <a:endParaRPr lang="en-US"/>
          </a:p>
        </p:txBody>
      </p:sp>
    </p:spTree>
    <p:extLst>
      <p:ext uri="{BB962C8B-B14F-4D97-AF65-F5344CB8AC3E}">
        <p14:creationId xmlns:p14="http://schemas.microsoft.com/office/powerpoint/2010/main" val="9181011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E9F90-0B40-0713-F064-2EACF2EA6D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25EE13-C0F3-0EC7-051D-5ACE73A8D1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7B3E56-0835-DFE9-31AD-6290ED76A1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22C29D-4DCE-54AF-AEB5-01DB6CF95AF4}"/>
              </a:ext>
            </a:extLst>
          </p:cNvPr>
          <p:cNvSpPr>
            <a:spLocks noGrp="1"/>
          </p:cNvSpPr>
          <p:nvPr>
            <p:ph type="sldNum" sz="quarter" idx="5"/>
          </p:nvPr>
        </p:nvSpPr>
        <p:spPr/>
        <p:txBody>
          <a:bodyPr/>
          <a:lstStyle/>
          <a:p>
            <a:fld id="{0E295E04-C95F-584C-A1FA-CD7806AF3800}" type="slidenum">
              <a:rPr lang="en-US" smtClean="0"/>
              <a:t>6</a:t>
            </a:fld>
            <a:endParaRPr lang="en-US"/>
          </a:p>
        </p:txBody>
      </p:sp>
    </p:spTree>
    <p:extLst>
      <p:ext uri="{BB962C8B-B14F-4D97-AF65-F5344CB8AC3E}">
        <p14:creationId xmlns:p14="http://schemas.microsoft.com/office/powerpoint/2010/main" val="11406334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D71A0-3F21-90FF-2C3B-70A433458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EFB758-0E78-9F9C-DEED-8997168844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7BDEA2-0B71-9F2F-CC67-57B610A945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2EB855-F77E-E576-D647-FDED42027ACF}"/>
              </a:ext>
            </a:extLst>
          </p:cNvPr>
          <p:cNvSpPr>
            <a:spLocks noGrp="1"/>
          </p:cNvSpPr>
          <p:nvPr>
            <p:ph type="sldNum" sz="quarter" idx="5"/>
          </p:nvPr>
        </p:nvSpPr>
        <p:spPr/>
        <p:txBody>
          <a:bodyPr/>
          <a:lstStyle/>
          <a:p>
            <a:fld id="{0E295E04-C95F-584C-A1FA-CD7806AF3800}" type="slidenum">
              <a:rPr lang="en-US" smtClean="0"/>
              <a:t>7</a:t>
            </a:fld>
            <a:endParaRPr lang="en-US"/>
          </a:p>
        </p:txBody>
      </p:sp>
    </p:spTree>
    <p:extLst>
      <p:ext uri="{BB962C8B-B14F-4D97-AF65-F5344CB8AC3E}">
        <p14:creationId xmlns:p14="http://schemas.microsoft.com/office/powerpoint/2010/main" val="10960290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6AED2-BE05-D296-D7AF-31AD0E2381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EE964D-881E-3F69-4644-8A2A6DC9E1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CDDA97-FCE5-595F-849E-E3CF95CA5F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E5863A-B6C8-C5DE-3719-93EF99ADA725}"/>
              </a:ext>
            </a:extLst>
          </p:cNvPr>
          <p:cNvSpPr>
            <a:spLocks noGrp="1"/>
          </p:cNvSpPr>
          <p:nvPr>
            <p:ph type="sldNum" sz="quarter" idx="5"/>
          </p:nvPr>
        </p:nvSpPr>
        <p:spPr/>
        <p:txBody>
          <a:bodyPr/>
          <a:lstStyle/>
          <a:p>
            <a:fld id="{0E295E04-C95F-584C-A1FA-CD7806AF3800}" type="slidenum">
              <a:rPr lang="en-US" smtClean="0"/>
              <a:t>8</a:t>
            </a:fld>
            <a:endParaRPr lang="en-US"/>
          </a:p>
        </p:txBody>
      </p:sp>
    </p:spTree>
    <p:extLst>
      <p:ext uri="{BB962C8B-B14F-4D97-AF65-F5344CB8AC3E}">
        <p14:creationId xmlns:p14="http://schemas.microsoft.com/office/powerpoint/2010/main" val="34735955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F56CD-64FE-C473-AFA0-011EF56AE3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7364F-1472-4F16-AC64-5B491A4F42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36148D-A513-E56D-00F2-431CBAF066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1F9369-FCA6-4D43-BE7D-F3B14CD008E8}"/>
              </a:ext>
            </a:extLst>
          </p:cNvPr>
          <p:cNvSpPr>
            <a:spLocks noGrp="1"/>
          </p:cNvSpPr>
          <p:nvPr>
            <p:ph type="sldNum" sz="quarter" idx="5"/>
          </p:nvPr>
        </p:nvSpPr>
        <p:spPr/>
        <p:txBody>
          <a:bodyPr/>
          <a:lstStyle/>
          <a:p>
            <a:fld id="{0E295E04-C95F-584C-A1FA-CD7806AF3800}" type="slidenum">
              <a:rPr lang="en-US" smtClean="0"/>
              <a:t>9</a:t>
            </a:fld>
            <a:endParaRPr lang="en-US"/>
          </a:p>
        </p:txBody>
      </p:sp>
    </p:spTree>
    <p:extLst>
      <p:ext uri="{BB962C8B-B14F-4D97-AF65-F5344CB8AC3E}">
        <p14:creationId xmlns:p14="http://schemas.microsoft.com/office/powerpoint/2010/main" val="3296620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emf"/><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3A480D-BC5A-C042-9398-7A0D4239E9A7}" type="datetimeFigureOut">
              <a:rPr lang="en-US" smtClean="0"/>
              <a:t>9/18/25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B71942-EEBE-2C43-8130-40B291DE273E}" type="slidenum">
              <a:rPr lang="en-US" smtClean="0"/>
              <a:t>‹#›</a:t>
            </a:fld>
            <a:endParaRPr lang="en-US"/>
          </a:p>
        </p:txBody>
      </p:sp>
    </p:spTree>
    <p:extLst>
      <p:ext uri="{BB962C8B-B14F-4D97-AF65-F5344CB8AC3E}">
        <p14:creationId xmlns:p14="http://schemas.microsoft.com/office/powerpoint/2010/main" val="1063727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3A480D-BC5A-C042-9398-7A0D4239E9A7}" type="datetimeFigureOut">
              <a:rPr lang="en-US" smtClean="0"/>
              <a:t>9/18/25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B71942-EEBE-2C43-8130-40B291DE273E}" type="slidenum">
              <a:rPr lang="en-US" smtClean="0"/>
              <a:t>‹#›</a:t>
            </a:fld>
            <a:endParaRPr lang="en-US"/>
          </a:p>
        </p:txBody>
      </p:sp>
    </p:spTree>
    <p:extLst>
      <p:ext uri="{BB962C8B-B14F-4D97-AF65-F5344CB8AC3E}">
        <p14:creationId xmlns:p14="http://schemas.microsoft.com/office/powerpoint/2010/main" val="3580175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3A480D-BC5A-C042-9398-7A0D4239E9A7}" type="datetimeFigureOut">
              <a:rPr lang="en-US" smtClean="0"/>
              <a:t>9/18/25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B71942-EEBE-2C43-8130-40B291DE273E}" type="slidenum">
              <a:rPr lang="en-US" smtClean="0"/>
              <a:t>‹#›</a:t>
            </a:fld>
            <a:endParaRPr lang="en-US"/>
          </a:p>
        </p:txBody>
      </p:sp>
    </p:spTree>
    <p:extLst>
      <p:ext uri="{BB962C8B-B14F-4D97-AF65-F5344CB8AC3E}">
        <p14:creationId xmlns:p14="http://schemas.microsoft.com/office/powerpoint/2010/main" val="407474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83A480D-BC5A-C042-9398-7A0D4239E9A7}" type="datetimeFigureOut">
              <a:rPr lang="en-US" smtClean="0"/>
              <a:t>9/18/25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B71942-EEBE-2C43-8130-40B291DE273E}" type="slidenum">
              <a:rPr lang="en-US" smtClean="0"/>
              <a:t>‹#›</a:t>
            </a:fld>
            <a:endParaRPr lang="en-US"/>
          </a:p>
        </p:txBody>
      </p:sp>
    </p:spTree>
    <p:extLst>
      <p:ext uri="{BB962C8B-B14F-4D97-AF65-F5344CB8AC3E}">
        <p14:creationId xmlns:p14="http://schemas.microsoft.com/office/powerpoint/2010/main" val="3098723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83A480D-BC5A-C042-9398-7A0D4239E9A7}" type="datetimeFigureOut">
              <a:rPr lang="en-US" smtClean="0"/>
              <a:t>9/18/25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B71942-EEBE-2C43-8130-40B291DE273E}" type="slidenum">
              <a:rPr lang="en-US" smtClean="0"/>
              <a:t>‹#›</a:t>
            </a:fld>
            <a:endParaRPr lang="en-US"/>
          </a:p>
        </p:txBody>
      </p:sp>
    </p:spTree>
    <p:extLst>
      <p:ext uri="{BB962C8B-B14F-4D97-AF65-F5344CB8AC3E}">
        <p14:creationId xmlns:p14="http://schemas.microsoft.com/office/powerpoint/2010/main" val="4091283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83A480D-BC5A-C042-9398-7A0D4239E9A7}" type="datetimeFigureOut">
              <a:rPr lang="en-US" smtClean="0"/>
              <a:t>9/18/25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B71942-EEBE-2C43-8130-40B291DE273E}" type="slidenum">
              <a:rPr lang="en-US" smtClean="0"/>
              <a:t>‹#›</a:t>
            </a:fld>
            <a:endParaRPr lang="en-US"/>
          </a:p>
        </p:txBody>
      </p:sp>
    </p:spTree>
    <p:extLst>
      <p:ext uri="{BB962C8B-B14F-4D97-AF65-F5344CB8AC3E}">
        <p14:creationId xmlns:p14="http://schemas.microsoft.com/office/powerpoint/2010/main" val="537454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3A480D-BC5A-C042-9398-7A0D4239E9A7}" type="datetimeFigureOut">
              <a:rPr lang="en-US" smtClean="0"/>
              <a:t>9/18/25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B71942-EEBE-2C43-8130-40B291DE273E}" type="slidenum">
              <a:rPr lang="en-US" smtClean="0"/>
              <a:t>‹#›</a:t>
            </a:fld>
            <a:endParaRPr lang="en-US"/>
          </a:p>
        </p:txBody>
      </p:sp>
    </p:spTree>
    <p:extLst>
      <p:ext uri="{BB962C8B-B14F-4D97-AF65-F5344CB8AC3E}">
        <p14:creationId xmlns:p14="http://schemas.microsoft.com/office/powerpoint/2010/main" val="2322616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3A480D-BC5A-C042-9398-7A0D4239E9A7}" type="datetimeFigureOut">
              <a:rPr lang="en-US" smtClean="0"/>
              <a:t>9/18/25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B71942-EEBE-2C43-8130-40B291DE273E}" type="slidenum">
              <a:rPr lang="en-US" smtClean="0"/>
              <a:t>‹#›</a:t>
            </a:fld>
            <a:endParaRPr lang="en-US"/>
          </a:p>
        </p:txBody>
      </p:sp>
    </p:spTree>
    <p:extLst>
      <p:ext uri="{BB962C8B-B14F-4D97-AF65-F5344CB8AC3E}">
        <p14:creationId xmlns:p14="http://schemas.microsoft.com/office/powerpoint/2010/main" val="37729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3A480D-BC5A-C042-9398-7A0D4239E9A7}" type="datetimeFigureOut">
              <a:rPr lang="en-US" smtClean="0"/>
              <a:t>9/18/25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B71942-EEBE-2C43-8130-40B291DE273E}" type="slidenum">
              <a:rPr lang="en-US" smtClean="0"/>
              <a:t>‹#›</a:t>
            </a:fld>
            <a:endParaRPr lang="en-US"/>
          </a:p>
        </p:txBody>
      </p:sp>
    </p:spTree>
    <p:extLst>
      <p:ext uri="{BB962C8B-B14F-4D97-AF65-F5344CB8AC3E}">
        <p14:creationId xmlns:p14="http://schemas.microsoft.com/office/powerpoint/2010/main" val="3837341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3A480D-BC5A-C042-9398-7A0D4239E9A7}" type="datetimeFigureOut">
              <a:rPr lang="en-US" smtClean="0"/>
              <a:t>9/18/25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B71942-EEBE-2C43-8130-40B291DE273E}" type="slidenum">
              <a:rPr lang="en-US" smtClean="0"/>
              <a:t>‹#›</a:t>
            </a:fld>
            <a:endParaRPr lang="en-US"/>
          </a:p>
        </p:txBody>
      </p:sp>
    </p:spTree>
    <p:extLst>
      <p:ext uri="{BB962C8B-B14F-4D97-AF65-F5344CB8AC3E}">
        <p14:creationId xmlns:p14="http://schemas.microsoft.com/office/powerpoint/2010/main" val="2396034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3A480D-BC5A-C042-9398-7A0D4239E9A7}" type="datetimeFigureOut">
              <a:rPr lang="en-US" smtClean="0"/>
              <a:t>9/18/25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B71942-EEBE-2C43-8130-40B291DE273E}" type="slidenum">
              <a:rPr lang="en-US" smtClean="0"/>
              <a:t>‹#›</a:t>
            </a:fld>
            <a:endParaRPr lang="en-US"/>
          </a:p>
        </p:txBody>
      </p:sp>
    </p:spTree>
    <p:extLst>
      <p:ext uri="{BB962C8B-B14F-4D97-AF65-F5344CB8AC3E}">
        <p14:creationId xmlns:p14="http://schemas.microsoft.com/office/powerpoint/2010/main" val="10932126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ark - Title_Pillar">
    <p:bg>
      <p:bgPr>
        <a:solidFill>
          <a:schemeClr val="bg2"/>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DE11E25-C771-5005-3137-A5673FC27B28}"/>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Title (up to two lines) </a:t>
            </a:r>
            <a:br>
              <a:rPr lang="en-US" dirty="0"/>
            </a:br>
            <a:r>
              <a:rPr lang="en-US" dirty="0"/>
              <a:t>Oracle Sans Tab Bold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sp>
        <p:nvSpPr>
          <p:cNvPr id="5" name="Slide Number Placeholder 4">
            <a:extLst>
              <a:ext uri="{FF2B5EF4-FFF2-40B4-BE49-F238E27FC236}">
                <a16:creationId xmlns:a16="http://schemas.microsoft.com/office/drawing/2014/main" id="{6A4B61EA-E671-B046-E16F-7C37520755BE}"/>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1FCEBD7F-FD1F-90FE-07B1-7E1D2FCAED23}"/>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2025,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74E28F03-7252-6A6A-9D9A-7C142FCA4155}"/>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6" name="Oracle Logo" descr="Oracle Logo">
            <a:extLst>
              <a:ext uri="{FF2B5EF4-FFF2-40B4-BE49-F238E27FC236}">
                <a16:creationId xmlns:a16="http://schemas.microsoft.com/office/drawing/2014/main" id="{9CEE2768-B645-2FE2-4588-531E1F7B3BD4}"/>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invGray">
          <a:xfrm>
            <a:off x="730669" y="1132368"/>
            <a:ext cx="1524893" cy="320039"/>
          </a:xfrm>
          <a:prstGeom prst="rect">
            <a:avLst/>
          </a:prstGeom>
        </p:spPr>
      </p:pic>
      <p:pic>
        <p:nvPicPr>
          <p:cNvPr id="14" name="OTag" descr="A small square in Oracle Red with the Oracle logo in the center in white">
            <a:extLst>
              <a:ext uri="{FF2B5EF4-FFF2-40B4-BE49-F238E27FC236}">
                <a16:creationId xmlns:a16="http://schemas.microsoft.com/office/drawing/2014/main" id="{F389D100-FFFC-F617-D7BB-53DD869F0D50}"/>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5"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2" name="Accent mark">
            <a:extLst>
              <a:ext uri="{FF2B5EF4-FFF2-40B4-BE49-F238E27FC236}">
                <a16:creationId xmlns:a16="http://schemas.microsoft.com/office/drawing/2014/main" id="{6863E062-D1CC-8F7F-B35F-ADAF6BDE7196}"/>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8165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ark - Safe harbor_Pillar">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Safe harbor statement</a:t>
            </a:r>
          </a:p>
        </p:txBody>
      </p:sp>
      <p:sp>
        <p:nvSpPr>
          <p:cNvPr id="5" name="Slide Number Placeholder 7">
            <a:extLst>
              <a:ext uri="{FF2B5EF4-FFF2-40B4-BE49-F238E27FC236}">
                <a16:creationId xmlns:a16="http://schemas.microsoft.com/office/drawing/2014/main" id="{BAE1FE92-0B5A-C3C7-4D80-295A1C03DE54}"/>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6">
            <a:extLst>
              <a:ext uri="{FF2B5EF4-FFF2-40B4-BE49-F238E27FC236}">
                <a16:creationId xmlns:a16="http://schemas.microsoft.com/office/drawing/2014/main" id="{F12714ED-3627-881E-09BA-8AF5C228303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1E845CA1-2B55-2D69-3680-9CE99F31519C}"/>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8" name="TextBox 7">
            <a:extLst>
              <a:ext uri="{FF2B5EF4-FFF2-40B4-BE49-F238E27FC236}">
                <a16:creationId xmlns:a16="http://schemas.microsoft.com/office/drawing/2014/main" id="{F2087D21-F78B-45C7-2C05-43C5D2F54367}"/>
              </a:ext>
            </a:extLst>
          </p:cNvPr>
          <p:cNvSpPr txBox="1"/>
          <p:nvPr userDrawn="1"/>
        </p:nvSpPr>
        <p:spPr>
          <a:xfrm>
            <a:off x="762000" y="2344333"/>
            <a:ext cx="8854338" cy="1709763"/>
          </a:xfrm>
          <a:prstGeom prst="rect">
            <a:avLst/>
          </a:prstGeom>
          <a:noFill/>
        </p:spPr>
        <p:txBody>
          <a:bodyPr wrap="square">
            <a:spAutoFit/>
          </a:bodyPr>
          <a:lstStyle/>
          <a:p>
            <a:pPr>
              <a:lnSpc>
                <a:spcPts val="2120"/>
              </a:lnSpc>
              <a:spcAft>
                <a:spcPts val="0"/>
              </a:spcAft>
            </a:pPr>
            <a:r>
              <a:rPr lang="en-US" sz="1800" b="0" i="0" dirty="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extLst>
      <p:ext uri="{BB962C8B-B14F-4D97-AF65-F5344CB8AC3E}">
        <p14:creationId xmlns:p14="http://schemas.microsoft.com/office/powerpoint/2010/main" val="18327436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783A480D-BC5A-C042-9398-7A0D4239E9A7}" type="datetimeFigureOut">
              <a:rPr lang="en-US" smtClean="0"/>
              <a:t>9/18/25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CEB71942-EEBE-2C43-8130-40B291DE273E}" type="slidenum">
              <a:rPr lang="en-US" smtClean="0"/>
              <a:t>‹#›</a:t>
            </a:fld>
            <a:endParaRPr lang="en-US"/>
          </a:p>
        </p:txBody>
      </p:sp>
      <p:sp>
        <p:nvSpPr>
          <p:cNvPr id="8" name="TextBox 7">
            <a:extLst>
              <a:ext uri="{FF2B5EF4-FFF2-40B4-BE49-F238E27FC236}">
                <a16:creationId xmlns:a16="http://schemas.microsoft.com/office/drawing/2014/main" id="{E562C05D-1C42-8C3D-CCCB-0F1C8E7C986D}"/>
              </a:ext>
            </a:extLst>
          </p:cNvPr>
          <p:cNvSpPr txBox="1"/>
          <p:nvPr userDrawn="1">
            <p:extLst>
              <p:ext uri="{1162E1C5-73C7-4A58-AE30-91384D911F3F}">
                <p184:classification xmlns:p184="http://schemas.microsoft.com/office/powerpoint/2018/4/main" val="ftr"/>
              </p:ext>
            </p:extLst>
          </p:nvPr>
        </p:nvSpPr>
        <p:spPr>
          <a:xfrm>
            <a:off x="63500" y="6642100"/>
            <a:ext cx="1543050"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cs typeface="Calibri" panose="020F0502020204030204" pitchFamily="34" charset="0"/>
              </a:rPr>
              <a:t>Confidential – Oracle Internal</a:t>
            </a:r>
          </a:p>
        </p:txBody>
      </p:sp>
    </p:spTree>
    <p:extLst>
      <p:ext uri="{BB962C8B-B14F-4D97-AF65-F5344CB8AC3E}">
        <p14:creationId xmlns:p14="http://schemas.microsoft.com/office/powerpoint/2010/main" val="4051972821"/>
      </p:ext>
    </p:extLst>
  </p:cSld>
  <p:clrMap bg1="dk1" tx1="lt1" bg2="dk2" tx2="lt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C2FF6-7F00-E3AF-E50C-90385BE9A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E6B884-9640-5BC6-4634-F2146B572A19}"/>
              </a:ext>
            </a:extLst>
          </p:cNvPr>
          <p:cNvSpPr>
            <a:spLocks noGrp="1"/>
          </p:cNvSpPr>
          <p:nvPr>
            <p:ph type="ctrTitle"/>
          </p:nvPr>
        </p:nvSpPr>
        <p:spPr/>
        <p:txBody>
          <a:bodyPr/>
          <a:lstStyle/>
          <a:p>
            <a:r>
              <a:rPr lang="en-US" dirty="0"/>
              <a:t>Model Context Protocol (MCP)</a:t>
            </a:r>
          </a:p>
        </p:txBody>
      </p:sp>
      <p:sp>
        <p:nvSpPr>
          <p:cNvPr id="3" name="Text Placeholder 2">
            <a:extLst>
              <a:ext uri="{FF2B5EF4-FFF2-40B4-BE49-F238E27FC236}">
                <a16:creationId xmlns:a16="http://schemas.microsoft.com/office/drawing/2014/main" id="{BE04FFD9-D794-C1C7-D480-C78B52F5C6D1}"/>
              </a:ext>
            </a:extLst>
          </p:cNvPr>
          <p:cNvSpPr>
            <a:spLocks noGrp="1"/>
          </p:cNvSpPr>
          <p:nvPr>
            <p:ph type="body" sz="quarter" idx="33"/>
          </p:nvPr>
        </p:nvSpPr>
        <p:spPr/>
        <p:txBody>
          <a:bodyPr/>
          <a:lstStyle/>
          <a:p>
            <a:r>
              <a:rPr lang="en-US" dirty="0"/>
              <a:t>A simple way for AI to connect with tools</a:t>
            </a:r>
          </a:p>
          <a:p>
            <a:endParaRPr lang="en-US" dirty="0"/>
          </a:p>
          <a:p>
            <a:endParaRPr lang="en-US" dirty="0"/>
          </a:p>
        </p:txBody>
      </p:sp>
      <p:sp>
        <p:nvSpPr>
          <p:cNvPr id="4" name="Text Placeholder 3">
            <a:extLst>
              <a:ext uri="{FF2B5EF4-FFF2-40B4-BE49-F238E27FC236}">
                <a16:creationId xmlns:a16="http://schemas.microsoft.com/office/drawing/2014/main" id="{5B19CEF1-2888-FADF-7895-E1D83F7F1BC1}"/>
              </a:ext>
            </a:extLst>
          </p:cNvPr>
          <p:cNvSpPr>
            <a:spLocks noGrp="1"/>
          </p:cNvSpPr>
          <p:nvPr>
            <p:ph type="body" sz="quarter" idx="35"/>
          </p:nvPr>
        </p:nvSpPr>
        <p:spPr/>
        <p:txBody>
          <a:bodyPr/>
          <a:lstStyle/>
          <a:p>
            <a:pPr marL="0" indent="0">
              <a:buNone/>
            </a:pPr>
            <a:r>
              <a:rPr lang="en-US" sz="1600" dirty="0"/>
              <a:t>Ankit Dogra, </a:t>
            </a:r>
            <a:r>
              <a:rPr lang="en-US" sz="1600" dirty="0" err="1"/>
              <a:t>Anideep</a:t>
            </a:r>
            <a:r>
              <a:rPr lang="en-US" sz="1600" dirty="0"/>
              <a:t> Kalia</a:t>
            </a:r>
          </a:p>
          <a:p>
            <a:pPr marL="0" indent="0">
              <a:buNone/>
            </a:pPr>
            <a:endParaRPr lang="en-US" sz="1600" dirty="0"/>
          </a:p>
          <a:p>
            <a:pPr marL="0" indent="0">
              <a:buNone/>
            </a:pPr>
            <a:endParaRPr lang="en-US" sz="1600" dirty="0"/>
          </a:p>
        </p:txBody>
      </p:sp>
      <p:sp>
        <p:nvSpPr>
          <p:cNvPr id="5" name="Text Placeholder 4">
            <a:extLst>
              <a:ext uri="{FF2B5EF4-FFF2-40B4-BE49-F238E27FC236}">
                <a16:creationId xmlns:a16="http://schemas.microsoft.com/office/drawing/2014/main" id="{87F24471-ABC6-3DAE-DAAF-D88E7D4D6DBE}"/>
              </a:ext>
            </a:extLst>
          </p:cNvPr>
          <p:cNvSpPr>
            <a:spLocks noGrp="1"/>
          </p:cNvSpPr>
          <p:nvPr>
            <p:ph type="body" sz="quarter" idx="34"/>
          </p:nvPr>
        </p:nvSpPr>
        <p:spPr/>
        <p:txBody>
          <a:bodyPr/>
          <a:lstStyle/>
          <a:p>
            <a:pPr marL="0" lvl="0" indent="0">
              <a:buNone/>
            </a:pPr>
            <a:r>
              <a:rPr lang="en-US" sz="1600" dirty="0"/>
              <a:t>Associate Engineer</a:t>
            </a:r>
          </a:p>
          <a:p>
            <a:pPr marL="0" lvl="0" indent="0">
              <a:buNone/>
            </a:pPr>
            <a:r>
              <a:rPr lang="en-US" sz="1600" dirty="0"/>
              <a:t>Customer Success Services (CSS)</a:t>
            </a:r>
          </a:p>
          <a:p>
            <a:pPr marL="0" lvl="0" indent="0">
              <a:buNone/>
            </a:pPr>
            <a:r>
              <a:rPr lang="en-US" sz="1600" dirty="0"/>
              <a:t>September 18, 2025</a:t>
            </a:r>
          </a:p>
          <a:p>
            <a:endParaRPr lang="en-US" sz="1600" dirty="0"/>
          </a:p>
        </p:txBody>
      </p:sp>
      <p:sp>
        <p:nvSpPr>
          <p:cNvPr id="6" name="Slide Number Placeholder 5">
            <a:extLst>
              <a:ext uri="{FF2B5EF4-FFF2-40B4-BE49-F238E27FC236}">
                <a16:creationId xmlns:a16="http://schemas.microsoft.com/office/drawing/2014/main" id="{8933923E-ECAF-2AB3-5E54-156511F8B4F5}"/>
              </a:ext>
            </a:extLst>
          </p:cNvPr>
          <p:cNvSpPr>
            <a:spLocks noGrp="1"/>
          </p:cNvSpPr>
          <p:nvPr>
            <p:ph type="sldNum" sz="quarter" idx="12"/>
          </p:nvPr>
        </p:nvSpPr>
        <p:spPr/>
        <p:txBody>
          <a:bodyPr/>
          <a:lstStyle/>
          <a:p>
            <a:fld id="{345D60D9-5372-5F40-9443-0F9AE5BDC3C8}" type="slidenum">
              <a:rPr lang="en-US" smtClean="0"/>
              <a:pPr/>
              <a:t>1</a:t>
            </a:fld>
            <a:endParaRPr lang="en-US" dirty="0"/>
          </a:p>
        </p:txBody>
      </p:sp>
      <p:sp>
        <p:nvSpPr>
          <p:cNvPr id="7" name="Footer Placeholder 6">
            <a:extLst>
              <a:ext uri="{FF2B5EF4-FFF2-40B4-BE49-F238E27FC236}">
                <a16:creationId xmlns:a16="http://schemas.microsoft.com/office/drawing/2014/main" id="{C86D326E-3217-B326-8E30-1D8E73611A0E}"/>
              </a:ext>
            </a:extLst>
          </p:cNvPr>
          <p:cNvSpPr>
            <a:spLocks noGrp="1"/>
          </p:cNvSpPr>
          <p:nvPr>
            <p:ph type="ftr" sz="quarter" idx="36"/>
          </p:nvPr>
        </p:nvSpPr>
        <p:spPr/>
        <p:txBody>
          <a:bodyPr/>
          <a:lstStyle/>
          <a:p>
            <a:r>
              <a:rPr lang="en-US"/>
              <a:t>Copyright © 2025, Oracle and/or its affiliates |  Confidential: Internal/Restricted/Highly Restricted</a:t>
            </a:r>
            <a:endParaRPr lang="en-US" dirty="0"/>
          </a:p>
        </p:txBody>
      </p:sp>
    </p:spTree>
    <p:extLst>
      <p:ext uri="{BB962C8B-B14F-4D97-AF65-F5344CB8AC3E}">
        <p14:creationId xmlns:p14="http://schemas.microsoft.com/office/powerpoint/2010/main" val="24089113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A45BB-C380-85F2-7CFF-0F464C05C1E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F616CF6-404A-936F-6478-24EE49A89DBC}"/>
              </a:ext>
            </a:extLst>
          </p:cNvPr>
          <p:cNvSpPr>
            <a:spLocks noGrp="1"/>
          </p:cNvSpPr>
          <p:nvPr>
            <p:ph type="sldNum" sz="quarter" idx="17"/>
          </p:nvPr>
        </p:nvSpPr>
        <p:spPr/>
        <p:txBody>
          <a:bodyPr/>
          <a:lstStyle/>
          <a:p>
            <a:fld id="{345D60D9-5372-5F40-9443-0F9AE5BDC3C8}" type="slidenum">
              <a:rPr lang="en-US" smtClean="0"/>
              <a:pPr/>
              <a:t>2</a:t>
            </a:fld>
            <a:endParaRPr lang="en-US" dirty="0"/>
          </a:p>
        </p:txBody>
      </p:sp>
      <p:sp>
        <p:nvSpPr>
          <p:cNvPr id="4" name="Footer Placeholder 3">
            <a:extLst>
              <a:ext uri="{FF2B5EF4-FFF2-40B4-BE49-F238E27FC236}">
                <a16:creationId xmlns:a16="http://schemas.microsoft.com/office/drawing/2014/main" id="{92705773-0792-399A-03FC-36FE93A81A91}"/>
              </a:ext>
            </a:extLst>
          </p:cNvPr>
          <p:cNvSpPr>
            <a:spLocks noGrp="1"/>
          </p:cNvSpPr>
          <p:nvPr>
            <p:ph type="ftr" sz="quarter" idx="16"/>
          </p:nvPr>
        </p:nvSpPr>
        <p:spPr>
          <a:xfrm>
            <a:off x="1127759" y="6423978"/>
            <a:ext cx="7302257" cy="365125"/>
          </a:xfrm>
        </p:spPr>
        <p:txBody>
          <a:bodyPr/>
          <a:lstStyle/>
          <a:p>
            <a:r>
              <a:rPr lang="en-US" dirty="0"/>
              <a:t>Copyright © 2025, Oracle and/or its affiliates |  Confidential: Internal/Restricted/Highly Restricted</a:t>
            </a:r>
          </a:p>
        </p:txBody>
      </p:sp>
      <p:sp>
        <p:nvSpPr>
          <p:cNvPr id="5" name="Rectangle 4">
            <a:extLst>
              <a:ext uri="{FF2B5EF4-FFF2-40B4-BE49-F238E27FC236}">
                <a16:creationId xmlns:a16="http://schemas.microsoft.com/office/drawing/2014/main" id="{ABAF2E7E-6479-4FA3-26B9-ED5507632E28}"/>
              </a:ext>
            </a:extLst>
          </p:cNvPr>
          <p:cNvSpPr/>
          <p:nvPr/>
        </p:nvSpPr>
        <p:spPr>
          <a:xfrm>
            <a:off x="0" y="68261"/>
            <a:ext cx="12052085" cy="6720521"/>
          </a:xfrm>
          <a:prstGeom prst="rect">
            <a:avLst/>
          </a:prstGeom>
          <a:solidFill>
            <a:srgbClr val="0E27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Number Placeholder 2">
            <a:extLst>
              <a:ext uri="{FF2B5EF4-FFF2-40B4-BE49-F238E27FC236}">
                <a16:creationId xmlns:a16="http://schemas.microsoft.com/office/drawing/2014/main" id="{713E77EF-BDD7-AF79-A252-E7BE6DD00B25}"/>
              </a:ext>
            </a:extLst>
          </p:cNvPr>
          <p:cNvSpPr txBox="1">
            <a:spLocks/>
          </p:cNvSpPr>
          <p:nvPr/>
        </p:nvSpPr>
        <p:spPr>
          <a:xfrm>
            <a:off x="762000" y="6355080"/>
            <a:ext cx="365760" cy="36576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rgbClr val="AEA8A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45D60D9-5372-5F40-9443-0F9AE5BDC3C8}" type="slidenum">
              <a:rPr lang="en-US" smtClean="0"/>
              <a:pPr/>
              <a:t>2</a:t>
            </a:fld>
            <a:endParaRPr lang="en-US" dirty="0"/>
          </a:p>
        </p:txBody>
      </p:sp>
      <p:pic>
        <p:nvPicPr>
          <p:cNvPr id="19" name="Picture 18">
            <a:extLst>
              <a:ext uri="{FF2B5EF4-FFF2-40B4-BE49-F238E27FC236}">
                <a16:creationId xmlns:a16="http://schemas.microsoft.com/office/drawing/2014/main" id="{1171CADB-9827-720D-C164-C67F03958D85}"/>
              </a:ext>
            </a:extLst>
          </p:cNvPr>
          <p:cNvPicPr>
            <a:picLocks noChangeAspect="1"/>
          </p:cNvPicPr>
          <p:nvPr/>
        </p:nvPicPr>
        <p:blipFill>
          <a:blip r:embed="rId3"/>
          <a:stretch>
            <a:fillRect/>
          </a:stretch>
        </p:blipFill>
        <p:spPr>
          <a:xfrm>
            <a:off x="0" y="0"/>
            <a:ext cx="5092995" cy="6858000"/>
          </a:xfrm>
          <a:prstGeom prst="rect">
            <a:avLst/>
          </a:prstGeom>
        </p:spPr>
      </p:pic>
      <p:sp>
        <p:nvSpPr>
          <p:cNvPr id="20" name="TextBox 19">
            <a:extLst>
              <a:ext uri="{FF2B5EF4-FFF2-40B4-BE49-F238E27FC236}">
                <a16:creationId xmlns:a16="http://schemas.microsoft.com/office/drawing/2014/main" id="{D1D357E8-8C90-4C31-1214-71A6DA865446}"/>
              </a:ext>
            </a:extLst>
          </p:cNvPr>
          <p:cNvSpPr txBox="1"/>
          <p:nvPr/>
        </p:nvSpPr>
        <p:spPr>
          <a:xfrm>
            <a:off x="5654739" y="357106"/>
            <a:ext cx="3799368" cy="1046440"/>
          </a:xfrm>
          <a:prstGeom prst="rect">
            <a:avLst/>
          </a:prstGeom>
          <a:noFill/>
        </p:spPr>
        <p:txBody>
          <a:bodyPr wrap="square" rtlCol="0">
            <a:spAutoFit/>
          </a:bodyPr>
          <a:lstStyle/>
          <a:p>
            <a:r>
              <a:rPr lang="en-US" b="1" dirty="0">
                <a:solidFill>
                  <a:srgbClr val="C74633"/>
                </a:solidFill>
              </a:rPr>
              <a:t>CHAPTER 1</a:t>
            </a:r>
          </a:p>
          <a:p>
            <a:r>
              <a:rPr lang="en-US" sz="4400" b="1" dirty="0">
                <a:solidFill>
                  <a:srgbClr val="C74633"/>
                </a:solidFill>
                <a:latin typeface="Oracle Sans" panose="020B0503020204020204" pitchFamily="34" charset="0"/>
                <a:cs typeface="Oracle Sans" panose="020B0503020204020204" pitchFamily="34" charset="0"/>
              </a:rPr>
              <a:t>What</a:t>
            </a:r>
            <a:r>
              <a:rPr lang="en-US" sz="4400" b="1" dirty="0">
                <a:solidFill>
                  <a:srgbClr val="C74633"/>
                </a:solidFill>
              </a:rPr>
              <a:t> Is MCP?</a:t>
            </a:r>
          </a:p>
        </p:txBody>
      </p:sp>
      <p:sp>
        <p:nvSpPr>
          <p:cNvPr id="26" name="Rectangle 25">
            <a:extLst>
              <a:ext uri="{FF2B5EF4-FFF2-40B4-BE49-F238E27FC236}">
                <a16:creationId xmlns:a16="http://schemas.microsoft.com/office/drawing/2014/main" id="{D23FF269-FF22-7565-1ECE-48EB9F91C3D2}"/>
              </a:ext>
            </a:extLst>
          </p:cNvPr>
          <p:cNvSpPr/>
          <p:nvPr/>
        </p:nvSpPr>
        <p:spPr>
          <a:xfrm>
            <a:off x="5654741" y="2014101"/>
            <a:ext cx="5878222" cy="1598835"/>
          </a:xfrm>
          <a:prstGeom prst="rect">
            <a:avLst/>
          </a:prstGeom>
          <a:noFill/>
          <a:ln w="9525" cap="flat" cmpd="sng" algn="ctr">
            <a:solidFill>
              <a:schemeClr val="bg2">
                <a:lumMod val="50000"/>
                <a:lumOff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51" name="Freeform 50">
            <a:extLst>
              <a:ext uri="{FF2B5EF4-FFF2-40B4-BE49-F238E27FC236}">
                <a16:creationId xmlns:a16="http://schemas.microsoft.com/office/drawing/2014/main" id="{3C4646A6-6CA2-C5B6-B2DE-0C79E7B78807}"/>
              </a:ext>
            </a:extLst>
          </p:cNvPr>
          <p:cNvSpPr/>
          <p:nvPr/>
        </p:nvSpPr>
        <p:spPr>
          <a:xfrm flipH="1">
            <a:off x="5654740" y="1638391"/>
            <a:ext cx="5878221" cy="613622"/>
          </a:xfrm>
          <a:custGeom>
            <a:avLst/>
            <a:gdLst>
              <a:gd name="connsiteX0" fmla="*/ 5774988 w 5878222"/>
              <a:gd name="connsiteY0" fmla="*/ 242803 h 613622"/>
              <a:gd name="connsiteX1" fmla="*/ 5774988 w 5878222"/>
              <a:gd name="connsiteY1" fmla="*/ 370819 h 613622"/>
              <a:gd name="connsiteX2" fmla="*/ 5878222 w 5878222"/>
              <a:gd name="connsiteY2" fmla="*/ 370819 h 613622"/>
              <a:gd name="connsiteX3" fmla="*/ 2939112 w 5878222"/>
              <a:gd name="connsiteY3" fmla="*/ 0 h 613622"/>
              <a:gd name="connsiteX4" fmla="*/ 2649452 w 5878222"/>
              <a:gd name="connsiteY4" fmla="*/ 187386 h 613622"/>
              <a:gd name="connsiteX5" fmla="*/ 2637811 w 5878222"/>
              <a:gd name="connsiteY5" fmla="*/ 243662 h 613622"/>
              <a:gd name="connsiteX6" fmla="*/ 103234 w 5878222"/>
              <a:gd name="connsiteY6" fmla="*/ 243662 h 613622"/>
              <a:gd name="connsiteX7" fmla="*/ 103234 w 5878222"/>
              <a:gd name="connsiteY7" fmla="*/ 242803 h 613622"/>
              <a:gd name="connsiteX8" fmla="*/ 0 w 5878222"/>
              <a:gd name="connsiteY8" fmla="*/ 370819 h 613622"/>
              <a:gd name="connsiteX9" fmla="*/ 103234 w 5878222"/>
              <a:gd name="connsiteY9" fmla="*/ 370819 h 613622"/>
              <a:gd name="connsiteX10" fmla="*/ 103234 w 5878222"/>
              <a:gd name="connsiteY10" fmla="*/ 369961 h 613622"/>
              <a:gd name="connsiteX11" fmla="*/ 2637811 w 5878222"/>
              <a:gd name="connsiteY11" fmla="*/ 369961 h 613622"/>
              <a:gd name="connsiteX12" fmla="*/ 2649452 w 5878222"/>
              <a:gd name="connsiteY12" fmla="*/ 426236 h 613622"/>
              <a:gd name="connsiteX13" fmla="*/ 2939112 w 5878222"/>
              <a:gd name="connsiteY13" fmla="*/ 613622 h 613622"/>
              <a:gd name="connsiteX14" fmla="*/ 3228771 w 5878222"/>
              <a:gd name="connsiteY14" fmla="*/ 426236 h 613622"/>
              <a:gd name="connsiteX15" fmla="*/ 3240412 w 5878222"/>
              <a:gd name="connsiteY15" fmla="*/ 369961 h 613622"/>
              <a:gd name="connsiteX16" fmla="*/ 5774987 w 5878222"/>
              <a:gd name="connsiteY16" fmla="*/ 369961 h 613622"/>
              <a:gd name="connsiteX17" fmla="*/ 5774987 w 5878222"/>
              <a:gd name="connsiteY17" fmla="*/ 243662 h 613622"/>
              <a:gd name="connsiteX18" fmla="*/ 3240412 w 5878222"/>
              <a:gd name="connsiteY18" fmla="*/ 243662 h 613622"/>
              <a:gd name="connsiteX19" fmla="*/ 3228771 w 5878222"/>
              <a:gd name="connsiteY19" fmla="*/ 187386 h 613622"/>
              <a:gd name="connsiteX20" fmla="*/ 2939112 w 5878222"/>
              <a:gd name="connsiteY20" fmla="*/ 0 h 613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878222" h="613622">
                <a:moveTo>
                  <a:pt x="5774988" y="242803"/>
                </a:moveTo>
                <a:lnTo>
                  <a:pt x="5774988" y="370819"/>
                </a:lnTo>
                <a:lnTo>
                  <a:pt x="5878222" y="370819"/>
                </a:lnTo>
                <a:close/>
                <a:moveTo>
                  <a:pt x="2939112" y="0"/>
                </a:moveTo>
                <a:cubicBezTo>
                  <a:pt x="2808897" y="0"/>
                  <a:pt x="2697175" y="77267"/>
                  <a:pt x="2649452" y="187386"/>
                </a:cubicBezTo>
                <a:lnTo>
                  <a:pt x="2637811" y="243662"/>
                </a:lnTo>
                <a:lnTo>
                  <a:pt x="103234" y="243662"/>
                </a:lnTo>
                <a:lnTo>
                  <a:pt x="103234" y="242803"/>
                </a:lnTo>
                <a:lnTo>
                  <a:pt x="0" y="370819"/>
                </a:lnTo>
                <a:lnTo>
                  <a:pt x="103234" y="370819"/>
                </a:lnTo>
                <a:lnTo>
                  <a:pt x="103234" y="369961"/>
                </a:lnTo>
                <a:lnTo>
                  <a:pt x="2637811" y="369961"/>
                </a:lnTo>
                <a:lnTo>
                  <a:pt x="2649452" y="426236"/>
                </a:lnTo>
                <a:cubicBezTo>
                  <a:pt x="2697175" y="536355"/>
                  <a:pt x="2808897" y="613622"/>
                  <a:pt x="2939112" y="613622"/>
                </a:cubicBezTo>
                <a:cubicBezTo>
                  <a:pt x="3069325" y="613622"/>
                  <a:pt x="3181048" y="536355"/>
                  <a:pt x="3228771" y="426236"/>
                </a:cubicBezTo>
                <a:lnTo>
                  <a:pt x="3240412" y="369961"/>
                </a:lnTo>
                <a:lnTo>
                  <a:pt x="5774987" y="369961"/>
                </a:lnTo>
                <a:lnTo>
                  <a:pt x="5774987" y="243662"/>
                </a:lnTo>
                <a:lnTo>
                  <a:pt x="3240412" y="243662"/>
                </a:lnTo>
                <a:lnTo>
                  <a:pt x="3228771" y="187386"/>
                </a:lnTo>
                <a:cubicBezTo>
                  <a:pt x="3181048" y="77267"/>
                  <a:pt x="3069325" y="0"/>
                  <a:pt x="2939112" y="0"/>
                </a:cubicBezTo>
                <a:close/>
              </a:path>
            </a:pathLst>
          </a:custGeom>
          <a:solidFill>
            <a:schemeClr val="bg2">
              <a:lumMod val="50000"/>
              <a:lumOff val="50000"/>
            </a:schemeClr>
          </a:solidFill>
          <a:ln>
            <a:noFill/>
          </a:ln>
        </p:spPr>
        <p:style>
          <a:lnRef idx="2">
            <a:schemeClr val="accent4">
              <a:shade val="15000"/>
            </a:schemeClr>
          </a:lnRef>
          <a:fillRef idx="1">
            <a:schemeClr val="accent4"/>
          </a:fillRef>
          <a:effectRef idx="0">
            <a:schemeClr val="accent4"/>
          </a:effectRef>
          <a:fontRef idx="minor">
            <a:schemeClr val="lt1"/>
          </a:fontRef>
        </p:style>
        <p:txBody>
          <a:bodyPr wrap="square" rtlCol="0" anchor="ctr">
            <a:noAutofit/>
          </a:bodyPr>
          <a:lstStyle/>
          <a:p>
            <a:pPr algn="ctr"/>
            <a:endParaRPr lang="en-US"/>
          </a:p>
        </p:txBody>
      </p:sp>
      <p:sp>
        <p:nvSpPr>
          <p:cNvPr id="35" name="TextBox 34">
            <a:extLst>
              <a:ext uri="{FF2B5EF4-FFF2-40B4-BE49-F238E27FC236}">
                <a16:creationId xmlns:a16="http://schemas.microsoft.com/office/drawing/2014/main" id="{A9AD5ACD-B78D-EE72-278C-C616E9D7605E}"/>
              </a:ext>
            </a:extLst>
          </p:cNvPr>
          <p:cNvSpPr txBox="1"/>
          <p:nvPr/>
        </p:nvSpPr>
        <p:spPr>
          <a:xfrm>
            <a:off x="5689778" y="2680197"/>
            <a:ext cx="5791565" cy="830997"/>
          </a:xfrm>
          <a:prstGeom prst="rect">
            <a:avLst/>
          </a:prstGeom>
          <a:noFill/>
        </p:spPr>
        <p:txBody>
          <a:bodyPr wrap="square" rtlCol="0">
            <a:spAutoFit/>
          </a:bodyPr>
          <a:lstStyle/>
          <a:p>
            <a:pPr algn="just"/>
            <a:r>
              <a:rPr lang="en-US" sz="1600" dirty="0">
                <a:latin typeface="Oracle Sans" panose="020B0503020204020204" pitchFamily="34" charset="0"/>
                <a:cs typeface="Oracle Sans" panose="020B0503020204020204" pitchFamily="34" charset="0"/>
              </a:rPr>
              <a:t>MCP provides a standardized framework that allows AI models to seamlessly connect with a multitude of external data sources and tools.</a:t>
            </a:r>
          </a:p>
        </p:txBody>
      </p:sp>
      <p:sp>
        <p:nvSpPr>
          <p:cNvPr id="54" name="Rectangle 53">
            <a:extLst>
              <a:ext uri="{FF2B5EF4-FFF2-40B4-BE49-F238E27FC236}">
                <a16:creationId xmlns:a16="http://schemas.microsoft.com/office/drawing/2014/main" id="{AAFBA3DA-B302-26F1-6373-21F4AADE015F}"/>
              </a:ext>
            </a:extLst>
          </p:cNvPr>
          <p:cNvSpPr/>
          <p:nvPr/>
        </p:nvSpPr>
        <p:spPr>
          <a:xfrm>
            <a:off x="5654740" y="4464520"/>
            <a:ext cx="5878222" cy="1598835"/>
          </a:xfrm>
          <a:prstGeom prst="rect">
            <a:avLst/>
          </a:prstGeom>
          <a:noFill/>
          <a:ln w="9525" cap="flat" cmpd="sng" algn="ctr">
            <a:solidFill>
              <a:schemeClr val="bg2">
                <a:lumMod val="50000"/>
                <a:lumOff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55" name="Freeform 54">
            <a:extLst>
              <a:ext uri="{FF2B5EF4-FFF2-40B4-BE49-F238E27FC236}">
                <a16:creationId xmlns:a16="http://schemas.microsoft.com/office/drawing/2014/main" id="{54A9B157-786F-7B14-4BBD-90E7194F03AB}"/>
              </a:ext>
            </a:extLst>
          </p:cNvPr>
          <p:cNvSpPr/>
          <p:nvPr/>
        </p:nvSpPr>
        <p:spPr>
          <a:xfrm flipH="1">
            <a:off x="5654739" y="4088810"/>
            <a:ext cx="5878222" cy="613622"/>
          </a:xfrm>
          <a:custGeom>
            <a:avLst/>
            <a:gdLst>
              <a:gd name="connsiteX0" fmla="*/ 5774988 w 5878222"/>
              <a:gd name="connsiteY0" fmla="*/ 242803 h 613622"/>
              <a:gd name="connsiteX1" fmla="*/ 5774988 w 5878222"/>
              <a:gd name="connsiteY1" fmla="*/ 370819 h 613622"/>
              <a:gd name="connsiteX2" fmla="*/ 5878222 w 5878222"/>
              <a:gd name="connsiteY2" fmla="*/ 370819 h 613622"/>
              <a:gd name="connsiteX3" fmla="*/ 2939112 w 5878222"/>
              <a:gd name="connsiteY3" fmla="*/ 0 h 613622"/>
              <a:gd name="connsiteX4" fmla="*/ 2649452 w 5878222"/>
              <a:gd name="connsiteY4" fmla="*/ 187386 h 613622"/>
              <a:gd name="connsiteX5" fmla="*/ 2637811 w 5878222"/>
              <a:gd name="connsiteY5" fmla="*/ 243662 h 613622"/>
              <a:gd name="connsiteX6" fmla="*/ 103234 w 5878222"/>
              <a:gd name="connsiteY6" fmla="*/ 243662 h 613622"/>
              <a:gd name="connsiteX7" fmla="*/ 103234 w 5878222"/>
              <a:gd name="connsiteY7" fmla="*/ 242803 h 613622"/>
              <a:gd name="connsiteX8" fmla="*/ 0 w 5878222"/>
              <a:gd name="connsiteY8" fmla="*/ 370819 h 613622"/>
              <a:gd name="connsiteX9" fmla="*/ 103234 w 5878222"/>
              <a:gd name="connsiteY9" fmla="*/ 370819 h 613622"/>
              <a:gd name="connsiteX10" fmla="*/ 103234 w 5878222"/>
              <a:gd name="connsiteY10" fmla="*/ 369961 h 613622"/>
              <a:gd name="connsiteX11" fmla="*/ 2637811 w 5878222"/>
              <a:gd name="connsiteY11" fmla="*/ 369961 h 613622"/>
              <a:gd name="connsiteX12" fmla="*/ 2649452 w 5878222"/>
              <a:gd name="connsiteY12" fmla="*/ 426236 h 613622"/>
              <a:gd name="connsiteX13" fmla="*/ 2939112 w 5878222"/>
              <a:gd name="connsiteY13" fmla="*/ 613622 h 613622"/>
              <a:gd name="connsiteX14" fmla="*/ 3228771 w 5878222"/>
              <a:gd name="connsiteY14" fmla="*/ 426236 h 613622"/>
              <a:gd name="connsiteX15" fmla="*/ 3240412 w 5878222"/>
              <a:gd name="connsiteY15" fmla="*/ 369961 h 613622"/>
              <a:gd name="connsiteX16" fmla="*/ 5774987 w 5878222"/>
              <a:gd name="connsiteY16" fmla="*/ 369961 h 613622"/>
              <a:gd name="connsiteX17" fmla="*/ 5774987 w 5878222"/>
              <a:gd name="connsiteY17" fmla="*/ 243662 h 613622"/>
              <a:gd name="connsiteX18" fmla="*/ 3240412 w 5878222"/>
              <a:gd name="connsiteY18" fmla="*/ 243662 h 613622"/>
              <a:gd name="connsiteX19" fmla="*/ 3228771 w 5878222"/>
              <a:gd name="connsiteY19" fmla="*/ 187386 h 613622"/>
              <a:gd name="connsiteX20" fmla="*/ 2939112 w 5878222"/>
              <a:gd name="connsiteY20" fmla="*/ 0 h 613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878222" h="613622">
                <a:moveTo>
                  <a:pt x="5774988" y="242803"/>
                </a:moveTo>
                <a:lnTo>
                  <a:pt x="5774988" y="370819"/>
                </a:lnTo>
                <a:lnTo>
                  <a:pt x="5878222" y="370819"/>
                </a:lnTo>
                <a:close/>
                <a:moveTo>
                  <a:pt x="2939112" y="0"/>
                </a:moveTo>
                <a:cubicBezTo>
                  <a:pt x="2808897" y="0"/>
                  <a:pt x="2697175" y="77267"/>
                  <a:pt x="2649452" y="187386"/>
                </a:cubicBezTo>
                <a:lnTo>
                  <a:pt x="2637811" y="243662"/>
                </a:lnTo>
                <a:lnTo>
                  <a:pt x="103234" y="243662"/>
                </a:lnTo>
                <a:lnTo>
                  <a:pt x="103234" y="242803"/>
                </a:lnTo>
                <a:lnTo>
                  <a:pt x="0" y="370819"/>
                </a:lnTo>
                <a:lnTo>
                  <a:pt x="103234" y="370819"/>
                </a:lnTo>
                <a:lnTo>
                  <a:pt x="103234" y="369961"/>
                </a:lnTo>
                <a:lnTo>
                  <a:pt x="2637811" y="369961"/>
                </a:lnTo>
                <a:lnTo>
                  <a:pt x="2649452" y="426236"/>
                </a:lnTo>
                <a:cubicBezTo>
                  <a:pt x="2697175" y="536355"/>
                  <a:pt x="2808897" y="613622"/>
                  <a:pt x="2939112" y="613622"/>
                </a:cubicBezTo>
                <a:cubicBezTo>
                  <a:pt x="3069325" y="613622"/>
                  <a:pt x="3181048" y="536355"/>
                  <a:pt x="3228771" y="426236"/>
                </a:cubicBezTo>
                <a:lnTo>
                  <a:pt x="3240412" y="369961"/>
                </a:lnTo>
                <a:lnTo>
                  <a:pt x="5774987" y="369961"/>
                </a:lnTo>
                <a:lnTo>
                  <a:pt x="5774987" y="243662"/>
                </a:lnTo>
                <a:lnTo>
                  <a:pt x="3240412" y="243662"/>
                </a:lnTo>
                <a:lnTo>
                  <a:pt x="3228771" y="187386"/>
                </a:lnTo>
                <a:cubicBezTo>
                  <a:pt x="3181048" y="77267"/>
                  <a:pt x="3069325" y="0"/>
                  <a:pt x="2939112" y="0"/>
                </a:cubicBezTo>
                <a:close/>
              </a:path>
            </a:pathLst>
          </a:custGeom>
          <a:solidFill>
            <a:schemeClr val="bg2">
              <a:lumMod val="50000"/>
              <a:lumOff val="50000"/>
            </a:schemeClr>
          </a:solidFill>
          <a:ln>
            <a:noFill/>
          </a:ln>
        </p:spPr>
        <p:style>
          <a:lnRef idx="2">
            <a:schemeClr val="accent4">
              <a:shade val="15000"/>
            </a:schemeClr>
          </a:lnRef>
          <a:fillRef idx="1">
            <a:schemeClr val="accent4"/>
          </a:fillRef>
          <a:effectRef idx="0">
            <a:schemeClr val="accent4"/>
          </a:effectRef>
          <a:fontRef idx="minor">
            <a:schemeClr val="lt1"/>
          </a:fontRef>
        </p:style>
        <p:txBody>
          <a:bodyPr wrap="square" rtlCol="0" anchor="ctr">
            <a:noAutofit/>
          </a:bodyPr>
          <a:lstStyle/>
          <a:p>
            <a:pPr algn="ctr"/>
            <a:endParaRPr lang="en-US">
              <a:solidFill>
                <a:schemeClr val="bg2">
                  <a:lumMod val="50000"/>
                  <a:lumOff val="50000"/>
                </a:schemeClr>
              </a:solidFill>
            </a:endParaRPr>
          </a:p>
        </p:txBody>
      </p:sp>
      <p:sp>
        <p:nvSpPr>
          <p:cNvPr id="62" name="TextBox 61">
            <a:extLst>
              <a:ext uri="{FF2B5EF4-FFF2-40B4-BE49-F238E27FC236}">
                <a16:creationId xmlns:a16="http://schemas.microsoft.com/office/drawing/2014/main" id="{47D96466-54E4-E679-6BE0-B5C7B2143A2F}"/>
              </a:ext>
            </a:extLst>
          </p:cNvPr>
          <p:cNvSpPr txBox="1"/>
          <p:nvPr/>
        </p:nvSpPr>
        <p:spPr>
          <a:xfrm>
            <a:off x="5680547" y="5092515"/>
            <a:ext cx="5826605" cy="830997"/>
          </a:xfrm>
          <a:prstGeom prst="rect">
            <a:avLst/>
          </a:prstGeom>
          <a:noFill/>
        </p:spPr>
        <p:txBody>
          <a:bodyPr wrap="square" rtlCol="0">
            <a:spAutoFit/>
          </a:bodyPr>
          <a:lstStyle/>
          <a:p>
            <a:pPr algn="just"/>
            <a:r>
              <a:rPr lang="en-US" sz="1600" dirty="0">
                <a:latin typeface="Oracle Sans" panose="020B0503020204020204" pitchFamily="34" charset="0"/>
                <a:cs typeface="Oracle Sans" panose="020B0503020204020204" pitchFamily="34" charset="0"/>
              </a:rPr>
              <a:t>Imagine a universal connector for AI. MCP serves this purpose, enabling any AI to "plug and play" with applications, databases, and services through a single, unified interface.</a:t>
            </a:r>
          </a:p>
        </p:txBody>
      </p:sp>
      <p:sp>
        <p:nvSpPr>
          <p:cNvPr id="63" name="TextBox 62">
            <a:extLst>
              <a:ext uri="{FF2B5EF4-FFF2-40B4-BE49-F238E27FC236}">
                <a16:creationId xmlns:a16="http://schemas.microsoft.com/office/drawing/2014/main" id="{D191F479-8111-E09B-9B9C-D5BCB9E9C33D}"/>
              </a:ext>
            </a:extLst>
          </p:cNvPr>
          <p:cNvSpPr txBox="1"/>
          <p:nvPr/>
        </p:nvSpPr>
        <p:spPr>
          <a:xfrm>
            <a:off x="8404208" y="1683273"/>
            <a:ext cx="189642" cy="523220"/>
          </a:xfrm>
          <a:prstGeom prst="rect">
            <a:avLst/>
          </a:prstGeom>
          <a:noFill/>
        </p:spPr>
        <p:txBody>
          <a:bodyPr wrap="square" rtlCol="0">
            <a:spAutoFit/>
          </a:bodyPr>
          <a:lstStyle/>
          <a:p>
            <a:r>
              <a:rPr lang="en-US" sz="2800" b="1" dirty="0">
                <a:solidFill>
                  <a:srgbClr val="0E2741"/>
                </a:solidFill>
              </a:rPr>
              <a:t>1</a:t>
            </a:r>
          </a:p>
        </p:txBody>
      </p:sp>
      <p:sp>
        <p:nvSpPr>
          <p:cNvPr id="65" name="TextBox 64">
            <a:extLst>
              <a:ext uri="{FF2B5EF4-FFF2-40B4-BE49-F238E27FC236}">
                <a16:creationId xmlns:a16="http://schemas.microsoft.com/office/drawing/2014/main" id="{25B2E2C9-A0C2-9E59-CD13-C131BB75DD1C}"/>
              </a:ext>
            </a:extLst>
          </p:cNvPr>
          <p:cNvSpPr txBox="1"/>
          <p:nvPr/>
        </p:nvSpPr>
        <p:spPr>
          <a:xfrm>
            <a:off x="8417876" y="4145894"/>
            <a:ext cx="189642" cy="523220"/>
          </a:xfrm>
          <a:prstGeom prst="rect">
            <a:avLst/>
          </a:prstGeom>
          <a:noFill/>
        </p:spPr>
        <p:txBody>
          <a:bodyPr wrap="square" rtlCol="0">
            <a:spAutoFit/>
          </a:bodyPr>
          <a:lstStyle/>
          <a:p>
            <a:r>
              <a:rPr lang="en-US" sz="2800" b="1" dirty="0">
                <a:solidFill>
                  <a:srgbClr val="0E2741"/>
                </a:solidFill>
              </a:rPr>
              <a:t>2</a:t>
            </a:r>
          </a:p>
        </p:txBody>
      </p:sp>
      <p:sp>
        <p:nvSpPr>
          <p:cNvPr id="66" name="TextBox 65">
            <a:extLst>
              <a:ext uri="{FF2B5EF4-FFF2-40B4-BE49-F238E27FC236}">
                <a16:creationId xmlns:a16="http://schemas.microsoft.com/office/drawing/2014/main" id="{624AE5A6-DC48-757E-BA89-B3D9671CE463}"/>
              </a:ext>
            </a:extLst>
          </p:cNvPr>
          <p:cNvSpPr txBox="1"/>
          <p:nvPr/>
        </p:nvSpPr>
        <p:spPr>
          <a:xfrm>
            <a:off x="5689778" y="4702090"/>
            <a:ext cx="4484536" cy="461665"/>
          </a:xfrm>
          <a:prstGeom prst="rect">
            <a:avLst/>
          </a:prstGeom>
          <a:noFill/>
        </p:spPr>
        <p:txBody>
          <a:bodyPr wrap="square" rtlCol="0">
            <a:spAutoFit/>
          </a:bodyPr>
          <a:lstStyle/>
          <a:p>
            <a:r>
              <a:rPr lang="en-US" sz="2400" b="1" dirty="0">
                <a:latin typeface="Oracle Sans" panose="020B0503020204020204" pitchFamily="34" charset="0"/>
                <a:cs typeface="Oracle Sans" panose="020B0503020204020204" pitchFamily="34" charset="0"/>
              </a:rPr>
              <a:t>AI's "USB-C Port"</a:t>
            </a:r>
          </a:p>
        </p:txBody>
      </p:sp>
      <p:sp>
        <p:nvSpPr>
          <p:cNvPr id="69" name="TextBox 68">
            <a:extLst>
              <a:ext uri="{FF2B5EF4-FFF2-40B4-BE49-F238E27FC236}">
                <a16:creationId xmlns:a16="http://schemas.microsoft.com/office/drawing/2014/main" id="{4A790194-97DA-13E4-5385-6099BAFF61D5}"/>
              </a:ext>
            </a:extLst>
          </p:cNvPr>
          <p:cNvSpPr txBox="1"/>
          <p:nvPr/>
        </p:nvSpPr>
        <p:spPr>
          <a:xfrm>
            <a:off x="5689778" y="2285847"/>
            <a:ext cx="4484536" cy="461665"/>
          </a:xfrm>
          <a:prstGeom prst="rect">
            <a:avLst/>
          </a:prstGeom>
          <a:noFill/>
        </p:spPr>
        <p:txBody>
          <a:bodyPr wrap="square" rtlCol="0">
            <a:spAutoFit/>
          </a:bodyPr>
          <a:lstStyle/>
          <a:p>
            <a:pPr algn="just"/>
            <a:r>
              <a:rPr lang="en-US" sz="2400" b="1" dirty="0">
                <a:latin typeface="Oracle Sans" panose="020B0503020204020204" pitchFamily="34" charset="0"/>
                <a:cs typeface="Oracle Sans" panose="020B0503020204020204" pitchFamily="34" charset="0"/>
              </a:rPr>
              <a:t>Open, Universal Standard</a:t>
            </a:r>
          </a:p>
        </p:txBody>
      </p:sp>
    </p:spTree>
    <p:extLst>
      <p:ext uri="{BB962C8B-B14F-4D97-AF65-F5344CB8AC3E}">
        <p14:creationId xmlns:p14="http://schemas.microsoft.com/office/powerpoint/2010/main" val="39095408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3884A-98DC-2AA5-EBB8-1D05E2BCBC2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9172C54-62B1-8B99-4A6D-8CCBBE545058}"/>
              </a:ext>
            </a:extLst>
          </p:cNvPr>
          <p:cNvSpPr>
            <a:spLocks noGrp="1"/>
          </p:cNvSpPr>
          <p:nvPr>
            <p:ph type="sldNum" sz="quarter" idx="17"/>
          </p:nvPr>
        </p:nvSpPr>
        <p:spPr/>
        <p:txBody>
          <a:bodyPr/>
          <a:lstStyle/>
          <a:p>
            <a:fld id="{345D60D9-5372-5F40-9443-0F9AE5BDC3C8}" type="slidenum">
              <a:rPr lang="en-US" smtClean="0"/>
              <a:pPr/>
              <a:t>3</a:t>
            </a:fld>
            <a:endParaRPr lang="en-US" dirty="0"/>
          </a:p>
        </p:txBody>
      </p:sp>
      <p:sp>
        <p:nvSpPr>
          <p:cNvPr id="4" name="Footer Placeholder 3">
            <a:extLst>
              <a:ext uri="{FF2B5EF4-FFF2-40B4-BE49-F238E27FC236}">
                <a16:creationId xmlns:a16="http://schemas.microsoft.com/office/drawing/2014/main" id="{AC0EEB5F-AF45-B4B3-D910-39E1C6F864C7}"/>
              </a:ext>
            </a:extLst>
          </p:cNvPr>
          <p:cNvSpPr>
            <a:spLocks noGrp="1"/>
          </p:cNvSpPr>
          <p:nvPr>
            <p:ph type="ftr" sz="quarter" idx="16"/>
          </p:nvPr>
        </p:nvSpPr>
        <p:spPr>
          <a:xfrm>
            <a:off x="1127759" y="6423978"/>
            <a:ext cx="7302257" cy="365125"/>
          </a:xfrm>
        </p:spPr>
        <p:txBody>
          <a:bodyPr/>
          <a:lstStyle/>
          <a:p>
            <a:r>
              <a:rPr lang="en-US" dirty="0"/>
              <a:t>Copyright © 2025, Oracle and/or its affiliates |  Confidential: Internal/Restricted/Highly Restricted</a:t>
            </a:r>
          </a:p>
        </p:txBody>
      </p:sp>
      <p:sp>
        <p:nvSpPr>
          <p:cNvPr id="5" name="Rectangle 4">
            <a:extLst>
              <a:ext uri="{FF2B5EF4-FFF2-40B4-BE49-F238E27FC236}">
                <a16:creationId xmlns:a16="http://schemas.microsoft.com/office/drawing/2014/main" id="{40AA4059-348B-9F9C-569A-A3B54F6F1FB9}"/>
              </a:ext>
            </a:extLst>
          </p:cNvPr>
          <p:cNvSpPr/>
          <p:nvPr/>
        </p:nvSpPr>
        <p:spPr>
          <a:xfrm>
            <a:off x="69954" y="211965"/>
            <a:ext cx="12052085" cy="6720521"/>
          </a:xfrm>
          <a:prstGeom prst="rect">
            <a:avLst/>
          </a:prstGeom>
          <a:solidFill>
            <a:srgbClr val="0E27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F69577D8-5329-FF4D-AB20-BCEB714101BF}"/>
              </a:ext>
            </a:extLst>
          </p:cNvPr>
          <p:cNvSpPr/>
          <p:nvPr/>
        </p:nvSpPr>
        <p:spPr>
          <a:xfrm>
            <a:off x="848657" y="1880141"/>
            <a:ext cx="5247340" cy="1598835"/>
          </a:xfrm>
          <a:prstGeom prst="rect">
            <a:avLst/>
          </a:prstGeom>
          <a:solidFill>
            <a:schemeClr val="bg1">
              <a:lumMod val="75000"/>
              <a:lumOff val="25000"/>
            </a:schemeClr>
          </a:solidFill>
          <a:ln w="9525" cap="flat" cmpd="sng" algn="ctr">
            <a:solidFill>
              <a:schemeClr val="bg1">
                <a:lumMod val="85000"/>
                <a:lumOff val="15000"/>
              </a:schemeClr>
            </a:solidFill>
            <a:prstDash val="solid"/>
            <a:round/>
            <a:headEnd type="none" w="med" len="med"/>
            <a:tailEnd type="none" w="med" len="med"/>
          </a:ln>
        </p:spPr>
        <p:style>
          <a:lnRef idx="0">
            <a:scrgbClr r="0" g="0" b="0"/>
          </a:lnRef>
          <a:fillRef idx="1003">
            <a:schemeClr val="dk1"/>
          </a:fillRef>
          <a:effectRef idx="0">
            <a:scrgbClr r="0" g="0" b="0"/>
          </a:effectRef>
          <a:fontRef idx="minor">
            <a:schemeClr val="accent4"/>
          </a:fontRef>
        </p:style>
        <p:txBody>
          <a:bodyPr rtlCol="0" anchor="ctr"/>
          <a:lstStyle/>
          <a:p>
            <a:pPr algn="ctr"/>
            <a:endParaRPr lang="en-US"/>
          </a:p>
        </p:txBody>
      </p:sp>
      <p:sp>
        <p:nvSpPr>
          <p:cNvPr id="35" name="TextBox 34">
            <a:extLst>
              <a:ext uri="{FF2B5EF4-FFF2-40B4-BE49-F238E27FC236}">
                <a16:creationId xmlns:a16="http://schemas.microsoft.com/office/drawing/2014/main" id="{6810F795-BC56-36FA-3EF3-D006402FEBDE}"/>
              </a:ext>
            </a:extLst>
          </p:cNvPr>
          <p:cNvSpPr txBox="1"/>
          <p:nvPr/>
        </p:nvSpPr>
        <p:spPr>
          <a:xfrm>
            <a:off x="848655" y="2410767"/>
            <a:ext cx="5207168" cy="900246"/>
          </a:xfrm>
          <a:prstGeom prst="rect">
            <a:avLst/>
          </a:prstGeom>
          <a:noFill/>
        </p:spPr>
        <p:txBody>
          <a:bodyPr wrap="square" rtlCol="0">
            <a:spAutoFit/>
          </a:bodyPr>
          <a:lstStyle/>
          <a:p>
            <a:pPr algn="r"/>
            <a:r>
              <a:rPr lang="en-US" sz="1750" dirty="0"/>
              <a:t>Before MCP, large language models (LLMs) were powerful but isolated, unable to directly access real-time data or interact with external tools.</a:t>
            </a:r>
          </a:p>
        </p:txBody>
      </p:sp>
      <p:sp>
        <p:nvSpPr>
          <p:cNvPr id="65" name="TextBox 64">
            <a:extLst>
              <a:ext uri="{FF2B5EF4-FFF2-40B4-BE49-F238E27FC236}">
                <a16:creationId xmlns:a16="http://schemas.microsoft.com/office/drawing/2014/main" id="{A4D66CEE-E6F0-47EE-05CB-FCE22F20288C}"/>
              </a:ext>
            </a:extLst>
          </p:cNvPr>
          <p:cNvSpPr txBox="1"/>
          <p:nvPr/>
        </p:nvSpPr>
        <p:spPr>
          <a:xfrm>
            <a:off x="8417876" y="4145894"/>
            <a:ext cx="189642" cy="523220"/>
          </a:xfrm>
          <a:prstGeom prst="rect">
            <a:avLst/>
          </a:prstGeom>
          <a:noFill/>
        </p:spPr>
        <p:txBody>
          <a:bodyPr wrap="square" rtlCol="0">
            <a:spAutoFit/>
          </a:bodyPr>
          <a:lstStyle/>
          <a:p>
            <a:r>
              <a:rPr lang="en-US" sz="2800" b="1" dirty="0">
                <a:solidFill>
                  <a:srgbClr val="0E2741"/>
                </a:solidFill>
              </a:rPr>
              <a:t>2</a:t>
            </a:r>
          </a:p>
        </p:txBody>
      </p:sp>
      <p:sp>
        <p:nvSpPr>
          <p:cNvPr id="69" name="TextBox 68">
            <a:extLst>
              <a:ext uri="{FF2B5EF4-FFF2-40B4-BE49-F238E27FC236}">
                <a16:creationId xmlns:a16="http://schemas.microsoft.com/office/drawing/2014/main" id="{9FC98CA1-0E41-26BC-967F-73147B67FC0C}"/>
              </a:ext>
            </a:extLst>
          </p:cNvPr>
          <p:cNvSpPr txBox="1"/>
          <p:nvPr/>
        </p:nvSpPr>
        <p:spPr>
          <a:xfrm>
            <a:off x="2115507" y="2014708"/>
            <a:ext cx="3940316" cy="461665"/>
          </a:xfrm>
          <a:prstGeom prst="rect">
            <a:avLst/>
          </a:prstGeom>
          <a:noFill/>
        </p:spPr>
        <p:txBody>
          <a:bodyPr wrap="square" rtlCol="0">
            <a:spAutoFit/>
          </a:bodyPr>
          <a:lstStyle/>
          <a:p>
            <a:pPr algn="r"/>
            <a:r>
              <a:rPr lang="en-US" sz="2400" b="1" dirty="0"/>
              <a:t>Isolated Intelligence</a:t>
            </a:r>
          </a:p>
        </p:txBody>
      </p:sp>
      <p:sp>
        <p:nvSpPr>
          <p:cNvPr id="2" name="Rectangle 1">
            <a:extLst>
              <a:ext uri="{FF2B5EF4-FFF2-40B4-BE49-F238E27FC236}">
                <a16:creationId xmlns:a16="http://schemas.microsoft.com/office/drawing/2014/main" id="{1195B1CF-C376-2F53-F77C-7233903ECB1C}"/>
              </a:ext>
            </a:extLst>
          </p:cNvPr>
          <p:cNvSpPr/>
          <p:nvPr/>
        </p:nvSpPr>
        <p:spPr>
          <a:xfrm>
            <a:off x="6095997" y="3979441"/>
            <a:ext cx="5205297" cy="1827061"/>
          </a:xfrm>
          <a:prstGeom prst="rect">
            <a:avLst/>
          </a:prstGeom>
          <a:solidFill>
            <a:schemeClr val="bg1">
              <a:lumMod val="75000"/>
              <a:lumOff val="25000"/>
            </a:schemeClr>
          </a:solidFill>
          <a:ln w="9525" cap="flat" cmpd="sng" algn="ctr">
            <a:noFill/>
            <a:prstDash val="solid"/>
            <a:round/>
            <a:headEnd type="none" w="med" len="med"/>
            <a:tailEnd type="none" w="med" len="med"/>
          </a:ln>
        </p:spPr>
        <p:style>
          <a:lnRef idx="0">
            <a:scrgbClr r="0" g="0" b="0"/>
          </a:lnRef>
          <a:fillRef idx="1003">
            <a:schemeClr val="dk1"/>
          </a:fillRef>
          <a:effectRef idx="0">
            <a:scrgbClr r="0" g="0" b="0"/>
          </a:effectRef>
          <a:fontRef idx="minor">
            <a:schemeClr val="accent4"/>
          </a:fontRef>
        </p:style>
        <p:txBody>
          <a:bodyPr rtlCol="0" anchor="ctr"/>
          <a:lstStyle/>
          <a:p>
            <a:pPr algn="ctr"/>
            <a:endParaRPr lang="en-US"/>
          </a:p>
        </p:txBody>
      </p:sp>
      <p:sp>
        <p:nvSpPr>
          <p:cNvPr id="7" name="TextBox 6">
            <a:extLst>
              <a:ext uri="{FF2B5EF4-FFF2-40B4-BE49-F238E27FC236}">
                <a16:creationId xmlns:a16="http://schemas.microsoft.com/office/drawing/2014/main" id="{2B56F6B3-CE2A-316E-EB5B-27F4E73540B1}"/>
              </a:ext>
            </a:extLst>
          </p:cNvPr>
          <p:cNvSpPr txBox="1"/>
          <p:nvPr/>
        </p:nvSpPr>
        <p:spPr>
          <a:xfrm>
            <a:off x="6180784" y="4533649"/>
            <a:ext cx="5120503" cy="1169551"/>
          </a:xfrm>
          <a:prstGeom prst="rect">
            <a:avLst/>
          </a:prstGeom>
          <a:noFill/>
        </p:spPr>
        <p:txBody>
          <a:bodyPr wrap="square" rtlCol="0">
            <a:spAutoFit/>
          </a:bodyPr>
          <a:lstStyle/>
          <a:p>
            <a:r>
              <a:rPr lang="en-US" sz="1750" dirty="0"/>
              <a:t>Connecting AI to different systems required custom, complex coding for every single integration, creating an overwhelming "</a:t>
            </a:r>
            <a:r>
              <a:rPr lang="en-US" sz="1750" dirty="0" err="1"/>
              <a:t>NxM</a:t>
            </a:r>
            <a:r>
              <a:rPr lang="en-US" sz="1750" dirty="0"/>
              <a:t>" problem that hindered widespread AI adoption.</a:t>
            </a:r>
          </a:p>
        </p:txBody>
      </p:sp>
      <p:sp>
        <p:nvSpPr>
          <p:cNvPr id="8" name="TextBox 7">
            <a:extLst>
              <a:ext uri="{FF2B5EF4-FFF2-40B4-BE49-F238E27FC236}">
                <a16:creationId xmlns:a16="http://schemas.microsoft.com/office/drawing/2014/main" id="{F25C6A9C-D1A5-090D-5C7D-F9BDC799AC3F}"/>
              </a:ext>
            </a:extLst>
          </p:cNvPr>
          <p:cNvSpPr txBox="1"/>
          <p:nvPr/>
        </p:nvSpPr>
        <p:spPr>
          <a:xfrm>
            <a:off x="6180784" y="4110127"/>
            <a:ext cx="3940316" cy="461665"/>
          </a:xfrm>
          <a:prstGeom prst="rect">
            <a:avLst/>
          </a:prstGeom>
          <a:noFill/>
        </p:spPr>
        <p:txBody>
          <a:bodyPr wrap="square" rtlCol="0">
            <a:spAutoFit/>
          </a:bodyPr>
          <a:lstStyle/>
          <a:p>
            <a:r>
              <a:rPr lang="en-US" sz="2400" b="1" dirty="0"/>
              <a:t>The Integration Challenge</a:t>
            </a:r>
          </a:p>
        </p:txBody>
      </p:sp>
      <p:cxnSp>
        <p:nvCxnSpPr>
          <p:cNvPr id="11" name="Straight Connector 10">
            <a:extLst>
              <a:ext uri="{FF2B5EF4-FFF2-40B4-BE49-F238E27FC236}">
                <a16:creationId xmlns:a16="http://schemas.microsoft.com/office/drawing/2014/main" id="{4CF1074B-2AF6-DD8D-F039-AD86BB2FAD07}"/>
              </a:ext>
            </a:extLst>
          </p:cNvPr>
          <p:cNvCxnSpPr>
            <a:cxnSpLocks/>
          </p:cNvCxnSpPr>
          <p:nvPr/>
        </p:nvCxnSpPr>
        <p:spPr>
          <a:xfrm>
            <a:off x="6095999" y="1880141"/>
            <a:ext cx="0" cy="3926361"/>
          </a:xfrm>
          <a:prstGeom prst="line">
            <a:avLst/>
          </a:prstGeom>
          <a:ln w="28575">
            <a:solidFill>
              <a:schemeClr val="bg1">
                <a:lumMod val="65000"/>
                <a:lumOff val="35000"/>
              </a:schemeClr>
            </a:solidFill>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45730D44-31BB-0737-908C-F869A4AA3A8C}"/>
              </a:ext>
            </a:extLst>
          </p:cNvPr>
          <p:cNvSpPr txBox="1"/>
          <p:nvPr/>
        </p:nvSpPr>
        <p:spPr>
          <a:xfrm>
            <a:off x="848657" y="5999704"/>
            <a:ext cx="10610576" cy="646331"/>
          </a:xfrm>
          <a:prstGeom prst="rect">
            <a:avLst/>
          </a:prstGeom>
          <a:noFill/>
        </p:spPr>
        <p:txBody>
          <a:bodyPr wrap="square" rtlCol="0">
            <a:spAutoFit/>
          </a:bodyPr>
          <a:lstStyle/>
          <a:p>
            <a:r>
              <a:rPr lang="en-US" dirty="0"/>
              <a:t>MCP was developed to overcome these significant hurdles, paving the way for truly integrated AI.</a:t>
            </a:r>
          </a:p>
          <a:p>
            <a:endParaRPr lang="en-US" dirty="0"/>
          </a:p>
        </p:txBody>
      </p:sp>
      <p:sp>
        <p:nvSpPr>
          <p:cNvPr id="6" name="TextBox 5">
            <a:extLst>
              <a:ext uri="{FF2B5EF4-FFF2-40B4-BE49-F238E27FC236}">
                <a16:creationId xmlns:a16="http://schemas.microsoft.com/office/drawing/2014/main" id="{8451757E-6D5F-D9FA-BE76-2DFDB48A460E}"/>
              </a:ext>
            </a:extLst>
          </p:cNvPr>
          <p:cNvSpPr txBox="1"/>
          <p:nvPr/>
        </p:nvSpPr>
        <p:spPr>
          <a:xfrm>
            <a:off x="448129" y="604299"/>
            <a:ext cx="7845518" cy="1046440"/>
          </a:xfrm>
          <a:prstGeom prst="rect">
            <a:avLst/>
          </a:prstGeom>
          <a:noFill/>
        </p:spPr>
        <p:txBody>
          <a:bodyPr wrap="square" rtlCol="0">
            <a:spAutoFit/>
          </a:bodyPr>
          <a:lstStyle/>
          <a:p>
            <a:r>
              <a:rPr lang="en-US" b="1" dirty="0">
                <a:solidFill>
                  <a:srgbClr val="C74633"/>
                </a:solidFill>
                <a:latin typeface="Oracle Sans" panose="020B0503020204020204" pitchFamily="34" charset="0"/>
                <a:cs typeface="Oracle Sans" panose="020B0503020204020204" pitchFamily="34" charset="0"/>
              </a:rPr>
              <a:t>CHAPTER 2</a:t>
            </a:r>
          </a:p>
          <a:p>
            <a:r>
              <a:rPr lang="en-US" sz="4400" b="1" dirty="0">
                <a:solidFill>
                  <a:srgbClr val="C74633"/>
                </a:solidFill>
                <a:latin typeface="Oracle Sans" panose="020B0503020204020204" pitchFamily="34" charset="0"/>
                <a:cs typeface="Oracle Sans" panose="020B0503020204020204" pitchFamily="34" charset="0"/>
              </a:rPr>
              <a:t>Why Does MCP Exist ?</a:t>
            </a:r>
          </a:p>
        </p:txBody>
      </p:sp>
    </p:spTree>
    <p:extLst>
      <p:ext uri="{BB962C8B-B14F-4D97-AF65-F5344CB8AC3E}">
        <p14:creationId xmlns:p14="http://schemas.microsoft.com/office/powerpoint/2010/main" val="19642883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A84AB-91F9-26F3-DA9F-2E7B59EBCF7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4DF04B6-673E-EB1A-8C3D-0B58EA1A1740}"/>
              </a:ext>
            </a:extLst>
          </p:cNvPr>
          <p:cNvSpPr>
            <a:spLocks noGrp="1"/>
          </p:cNvSpPr>
          <p:nvPr>
            <p:ph type="sldNum" sz="quarter" idx="17"/>
          </p:nvPr>
        </p:nvSpPr>
        <p:spPr/>
        <p:txBody>
          <a:bodyPr/>
          <a:lstStyle/>
          <a:p>
            <a:fld id="{345D60D9-5372-5F40-9443-0F9AE5BDC3C8}" type="slidenum">
              <a:rPr lang="en-US" smtClean="0"/>
              <a:pPr/>
              <a:t>4</a:t>
            </a:fld>
            <a:endParaRPr lang="en-US" dirty="0"/>
          </a:p>
        </p:txBody>
      </p:sp>
      <p:sp>
        <p:nvSpPr>
          <p:cNvPr id="4" name="Footer Placeholder 3">
            <a:extLst>
              <a:ext uri="{FF2B5EF4-FFF2-40B4-BE49-F238E27FC236}">
                <a16:creationId xmlns:a16="http://schemas.microsoft.com/office/drawing/2014/main" id="{1E7F7220-88B1-1DC4-4659-3E866A4A85A5}"/>
              </a:ext>
            </a:extLst>
          </p:cNvPr>
          <p:cNvSpPr>
            <a:spLocks noGrp="1"/>
          </p:cNvSpPr>
          <p:nvPr>
            <p:ph type="ftr" sz="quarter" idx="16"/>
          </p:nvPr>
        </p:nvSpPr>
        <p:spPr>
          <a:xfrm>
            <a:off x="1127759" y="6423978"/>
            <a:ext cx="7302257" cy="365125"/>
          </a:xfrm>
        </p:spPr>
        <p:txBody>
          <a:bodyPr/>
          <a:lstStyle/>
          <a:p>
            <a:r>
              <a:rPr lang="en-US" dirty="0"/>
              <a:t>Copyright © 2025, Oracle and/or its affiliates |  Confidential: Internal/Restricted/Highly Restricted</a:t>
            </a:r>
          </a:p>
        </p:txBody>
      </p:sp>
      <p:sp>
        <p:nvSpPr>
          <p:cNvPr id="5" name="Rectangle 4">
            <a:extLst>
              <a:ext uri="{FF2B5EF4-FFF2-40B4-BE49-F238E27FC236}">
                <a16:creationId xmlns:a16="http://schemas.microsoft.com/office/drawing/2014/main" id="{2A025646-C494-30C6-B9E5-0FAC00B80605}"/>
              </a:ext>
            </a:extLst>
          </p:cNvPr>
          <p:cNvSpPr/>
          <p:nvPr/>
        </p:nvSpPr>
        <p:spPr>
          <a:xfrm>
            <a:off x="69957" y="118715"/>
            <a:ext cx="12052085" cy="6720521"/>
          </a:xfrm>
          <a:prstGeom prst="rect">
            <a:avLst/>
          </a:prstGeom>
          <a:solidFill>
            <a:srgbClr val="0E27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82007037-9F87-E4FE-D74C-798D9EAF0DFE}"/>
              </a:ext>
            </a:extLst>
          </p:cNvPr>
          <p:cNvSpPr txBox="1"/>
          <p:nvPr/>
        </p:nvSpPr>
        <p:spPr>
          <a:xfrm>
            <a:off x="448129" y="604299"/>
            <a:ext cx="7845518" cy="1046440"/>
          </a:xfrm>
          <a:prstGeom prst="rect">
            <a:avLst/>
          </a:prstGeom>
          <a:noFill/>
        </p:spPr>
        <p:txBody>
          <a:bodyPr wrap="square" rtlCol="0">
            <a:spAutoFit/>
          </a:bodyPr>
          <a:lstStyle/>
          <a:p>
            <a:r>
              <a:rPr lang="en-US" b="1" dirty="0">
                <a:solidFill>
                  <a:srgbClr val="C74633"/>
                </a:solidFill>
                <a:latin typeface="Oracle Sans" panose="020B0503020204020204" pitchFamily="34" charset="0"/>
                <a:cs typeface="Oracle Sans" panose="020B0503020204020204" pitchFamily="34" charset="0"/>
              </a:rPr>
              <a:t>CHAPTER 3</a:t>
            </a:r>
          </a:p>
          <a:p>
            <a:r>
              <a:rPr lang="en-US" sz="4400" b="1" dirty="0">
                <a:solidFill>
                  <a:srgbClr val="C74633"/>
                </a:solidFill>
                <a:latin typeface="Oracle Sans" panose="020B0503020204020204" pitchFamily="34" charset="0"/>
                <a:cs typeface="Oracle Sans" panose="020B0503020204020204" pitchFamily="34" charset="0"/>
              </a:rPr>
              <a:t>How MCP Works: The Basics</a:t>
            </a:r>
          </a:p>
        </p:txBody>
      </p:sp>
      <p:sp>
        <p:nvSpPr>
          <p:cNvPr id="65" name="TextBox 64">
            <a:extLst>
              <a:ext uri="{FF2B5EF4-FFF2-40B4-BE49-F238E27FC236}">
                <a16:creationId xmlns:a16="http://schemas.microsoft.com/office/drawing/2014/main" id="{BE5A090F-BA74-CDB4-A9D6-F829DEA3BA81}"/>
              </a:ext>
            </a:extLst>
          </p:cNvPr>
          <p:cNvSpPr txBox="1"/>
          <p:nvPr/>
        </p:nvSpPr>
        <p:spPr>
          <a:xfrm>
            <a:off x="8417876" y="4145894"/>
            <a:ext cx="189642" cy="523220"/>
          </a:xfrm>
          <a:prstGeom prst="rect">
            <a:avLst/>
          </a:prstGeom>
          <a:noFill/>
        </p:spPr>
        <p:txBody>
          <a:bodyPr wrap="square" rtlCol="0">
            <a:spAutoFit/>
          </a:bodyPr>
          <a:lstStyle/>
          <a:p>
            <a:r>
              <a:rPr lang="en-US" sz="2800" b="1" dirty="0">
                <a:solidFill>
                  <a:srgbClr val="0E2741"/>
                </a:solidFill>
              </a:rPr>
              <a:t>2</a:t>
            </a:r>
          </a:p>
        </p:txBody>
      </p:sp>
      <p:pic>
        <p:nvPicPr>
          <p:cNvPr id="22" name="Image 0" descr="preencoded.png">
            <a:extLst>
              <a:ext uri="{FF2B5EF4-FFF2-40B4-BE49-F238E27FC236}">
                <a16:creationId xmlns:a16="http://schemas.microsoft.com/office/drawing/2014/main" id="{CF3AE18D-A9EB-E9BB-0584-C1FF003DD1C5}"/>
              </a:ext>
            </a:extLst>
          </p:cNvPr>
          <p:cNvPicPr>
            <a:picLocks noChangeAspect="1"/>
          </p:cNvPicPr>
          <p:nvPr/>
        </p:nvPicPr>
        <p:blipFill>
          <a:blip r:embed="rId3"/>
          <a:stretch>
            <a:fillRect/>
          </a:stretch>
        </p:blipFill>
        <p:spPr>
          <a:xfrm>
            <a:off x="637709" y="1830294"/>
            <a:ext cx="3479297" cy="907256"/>
          </a:xfrm>
          <a:prstGeom prst="rect">
            <a:avLst/>
          </a:prstGeom>
        </p:spPr>
      </p:pic>
      <p:sp>
        <p:nvSpPr>
          <p:cNvPr id="23" name="Text 2">
            <a:extLst>
              <a:ext uri="{FF2B5EF4-FFF2-40B4-BE49-F238E27FC236}">
                <a16:creationId xmlns:a16="http://schemas.microsoft.com/office/drawing/2014/main" id="{CF9C76C9-861C-8056-3427-B81DFE1376E8}"/>
              </a:ext>
            </a:extLst>
          </p:cNvPr>
          <p:cNvSpPr/>
          <p:nvPr/>
        </p:nvSpPr>
        <p:spPr>
          <a:xfrm>
            <a:off x="637709" y="2974899"/>
            <a:ext cx="2918561" cy="354330"/>
          </a:xfrm>
          <a:prstGeom prst="rect">
            <a:avLst/>
          </a:prstGeom>
          <a:noFill/>
          <a:ln/>
        </p:spPr>
        <p:txBody>
          <a:bodyPr wrap="none" lIns="0" tIns="0" rIns="0" bIns="0" rtlCol="0" anchor="t"/>
          <a:lstStyle/>
          <a:p>
            <a:pPr marL="0" indent="0" algn="l">
              <a:lnSpc>
                <a:spcPts val="2750"/>
              </a:lnSpc>
              <a:buNone/>
            </a:pPr>
            <a:r>
              <a:rPr lang="en-US" sz="2200" b="1" dirty="0">
                <a:latin typeface="Oracle Sans" panose="020B0503020204020204" pitchFamily="34" charset="0"/>
                <a:ea typeface="Anton" pitchFamily="34" charset="-122"/>
                <a:cs typeface="Oracle Sans" panose="020B0503020204020204" pitchFamily="34" charset="0"/>
              </a:rPr>
              <a:t>MCP Clients</a:t>
            </a:r>
            <a:endParaRPr lang="en-US" sz="2200" b="1" dirty="0">
              <a:latin typeface="Oracle Sans" panose="020B0503020204020204" pitchFamily="34" charset="0"/>
              <a:cs typeface="Oracle Sans" panose="020B0503020204020204" pitchFamily="34" charset="0"/>
            </a:endParaRPr>
          </a:p>
        </p:txBody>
      </p:sp>
      <p:sp>
        <p:nvSpPr>
          <p:cNvPr id="24" name="Text 3">
            <a:extLst>
              <a:ext uri="{FF2B5EF4-FFF2-40B4-BE49-F238E27FC236}">
                <a16:creationId xmlns:a16="http://schemas.microsoft.com/office/drawing/2014/main" id="{8221F7A7-AC91-3A1F-1413-80219820A101}"/>
              </a:ext>
            </a:extLst>
          </p:cNvPr>
          <p:cNvSpPr/>
          <p:nvPr/>
        </p:nvSpPr>
        <p:spPr>
          <a:xfrm>
            <a:off x="637709" y="3475027"/>
            <a:ext cx="3479297" cy="725805"/>
          </a:xfrm>
          <a:prstGeom prst="rect">
            <a:avLst/>
          </a:prstGeom>
          <a:noFill/>
          <a:ln/>
        </p:spPr>
        <p:txBody>
          <a:bodyPr wrap="square" lIns="0" tIns="0" rIns="0" bIns="0" rtlCol="0" anchor="t"/>
          <a:lstStyle/>
          <a:p>
            <a:pPr marL="0" indent="0" algn="l">
              <a:lnSpc>
                <a:spcPts val="2850"/>
              </a:lnSpc>
              <a:buNone/>
            </a:pPr>
            <a:r>
              <a:rPr lang="en-US" sz="1750" dirty="0">
                <a:latin typeface="Oracle Sans" panose="020B0503020204020204" pitchFamily="34" charset="0"/>
                <a:ea typeface="Fira Sans" pitchFamily="34" charset="-122"/>
                <a:cs typeface="Oracle Sans" panose="020B0503020204020204" pitchFamily="34" charset="0"/>
              </a:rPr>
              <a:t>AI applications, like Claude, initiate requests for information or actions.</a:t>
            </a:r>
            <a:endParaRPr lang="en-US" sz="1750" dirty="0">
              <a:latin typeface="Oracle Sans" panose="020B0503020204020204" pitchFamily="34" charset="0"/>
              <a:cs typeface="Oracle Sans" panose="020B0503020204020204" pitchFamily="34" charset="0"/>
            </a:endParaRPr>
          </a:p>
        </p:txBody>
      </p:sp>
      <p:pic>
        <p:nvPicPr>
          <p:cNvPr id="25" name="Image 1" descr="preencoded.png">
            <a:extLst>
              <a:ext uri="{FF2B5EF4-FFF2-40B4-BE49-F238E27FC236}">
                <a16:creationId xmlns:a16="http://schemas.microsoft.com/office/drawing/2014/main" id="{83ABBFE7-E3DC-2005-FDF2-748B56379228}"/>
              </a:ext>
            </a:extLst>
          </p:cNvPr>
          <p:cNvPicPr>
            <a:picLocks noChangeAspect="1"/>
          </p:cNvPicPr>
          <p:nvPr/>
        </p:nvPicPr>
        <p:blipFill>
          <a:blip r:embed="rId4"/>
          <a:stretch>
            <a:fillRect/>
          </a:stretch>
        </p:blipFill>
        <p:spPr>
          <a:xfrm>
            <a:off x="4465678" y="1832852"/>
            <a:ext cx="3479297" cy="907256"/>
          </a:xfrm>
          <a:prstGeom prst="rect">
            <a:avLst/>
          </a:prstGeom>
        </p:spPr>
      </p:pic>
      <p:sp>
        <p:nvSpPr>
          <p:cNvPr id="27" name="Text 4">
            <a:extLst>
              <a:ext uri="{FF2B5EF4-FFF2-40B4-BE49-F238E27FC236}">
                <a16:creationId xmlns:a16="http://schemas.microsoft.com/office/drawing/2014/main" id="{7132934A-7F1E-84E9-492A-05305F4B3967}"/>
              </a:ext>
            </a:extLst>
          </p:cNvPr>
          <p:cNvSpPr/>
          <p:nvPr/>
        </p:nvSpPr>
        <p:spPr>
          <a:xfrm>
            <a:off x="4542755" y="3027074"/>
            <a:ext cx="2918561" cy="354330"/>
          </a:xfrm>
          <a:prstGeom prst="rect">
            <a:avLst/>
          </a:prstGeom>
          <a:noFill/>
          <a:ln/>
        </p:spPr>
        <p:txBody>
          <a:bodyPr wrap="none" lIns="0" tIns="0" rIns="0" bIns="0" rtlCol="0" anchor="t"/>
          <a:lstStyle/>
          <a:p>
            <a:pPr marL="0" indent="0" algn="l">
              <a:lnSpc>
                <a:spcPts val="2750"/>
              </a:lnSpc>
              <a:buNone/>
            </a:pPr>
            <a:r>
              <a:rPr lang="en-US" sz="2200" b="1" dirty="0">
                <a:latin typeface="Oracle Sans" panose="020B0503020204020204" pitchFamily="34" charset="0"/>
                <a:ea typeface="Anton" pitchFamily="34" charset="-122"/>
                <a:cs typeface="Oracle Sans" panose="020B0503020204020204" pitchFamily="34" charset="0"/>
              </a:rPr>
              <a:t>MCP Servers</a:t>
            </a:r>
            <a:endParaRPr lang="en-US" sz="2200" b="1" dirty="0">
              <a:latin typeface="Oracle Sans" panose="020B0503020204020204" pitchFamily="34" charset="0"/>
              <a:cs typeface="Oracle Sans" panose="020B0503020204020204" pitchFamily="34" charset="0"/>
            </a:endParaRPr>
          </a:p>
        </p:txBody>
      </p:sp>
      <p:sp>
        <p:nvSpPr>
          <p:cNvPr id="28" name="Text 5">
            <a:extLst>
              <a:ext uri="{FF2B5EF4-FFF2-40B4-BE49-F238E27FC236}">
                <a16:creationId xmlns:a16="http://schemas.microsoft.com/office/drawing/2014/main" id="{59938F70-1A86-8067-3047-BBF5908B7411}"/>
              </a:ext>
            </a:extLst>
          </p:cNvPr>
          <p:cNvSpPr/>
          <p:nvPr/>
        </p:nvSpPr>
        <p:spPr>
          <a:xfrm>
            <a:off x="4542756" y="3442883"/>
            <a:ext cx="3473328" cy="1451610"/>
          </a:xfrm>
          <a:prstGeom prst="rect">
            <a:avLst/>
          </a:prstGeom>
          <a:noFill/>
          <a:ln/>
        </p:spPr>
        <p:txBody>
          <a:bodyPr wrap="square" lIns="0" tIns="0" rIns="0" bIns="0" rtlCol="0" anchor="t"/>
          <a:lstStyle/>
          <a:p>
            <a:pPr marL="0" indent="0" algn="l">
              <a:lnSpc>
                <a:spcPts val="2850"/>
              </a:lnSpc>
              <a:buNone/>
            </a:pPr>
            <a:r>
              <a:rPr lang="en-US" sz="1750" dirty="0">
                <a:latin typeface="Oracle Sans" panose="020B0503020204020204" pitchFamily="34" charset="0"/>
                <a:ea typeface="Fira Sans" pitchFamily="34" charset="-122"/>
                <a:cs typeface="Oracle Sans" panose="020B0503020204020204" pitchFamily="34" charset="0"/>
              </a:rPr>
              <a:t>These connectors interpret AI requests and translate them into commands for external applications (e.g., Google Drive, Slack, calendars).</a:t>
            </a:r>
            <a:endParaRPr lang="en-US" sz="1750" dirty="0">
              <a:latin typeface="Oracle Sans" panose="020B0503020204020204" pitchFamily="34" charset="0"/>
              <a:cs typeface="Oracle Sans" panose="020B0503020204020204" pitchFamily="34" charset="0"/>
            </a:endParaRPr>
          </a:p>
        </p:txBody>
      </p:sp>
      <p:pic>
        <p:nvPicPr>
          <p:cNvPr id="29" name="Image 2" descr="preencoded.png">
            <a:extLst>
              <a:ext uri="{FF2B5EF4-FFF2-40B4-BE49-F238E27FC236}">
                <a16:creationId xmlns:a16="http://schemas.microsoft.com/office/drawing/2014/main" id="{A45471AC-3C2A-C9BF-9CBF-A5E464B7FB6E}"/>
              </a:ext>
            </a:extLst>
          </p:cNvPr>
          <p:cNvPicPr>
            <a:picLocks noChangeAspect="1"/>
          </p:cNvPicPr>
          <p:nvPr/>
        </p:nvPicPr>
        <p:blipFill>
          <a:blip r:embed="rId5"/>
          <a:stretch>
            <a:fillRect/>
          </a:stretch>
        </p:blipFill>
        <p:spPr>
          <a:xfrm>
            <a:off x="8293700" y="1830294"/>
            <a:ext cx="3479297" cy="907256"/>
          </a:xfrm>
          <a:prstGeom prst="rect">
            <a:avLst/>
          </a:prstGeom>
        </p:spPr>
      </p:pic>
      <p:sp>
        <p:nvSpPr>
          <p:cNvPr id="30" name="Text 6">
            <a:extLst>
              <a:ext uri="{FF2B5EF4-FFF2-40B4-BE49-F238E27FC236}">
                <a16:creationId xmlns:a16="http://schemas.microsoft.com/office/drawing/2014/main" id="{BBE20EC6-2300-B8D5-33FF-B93F8D5F604F}"/>
              </a:ext>
            </a:extLst>
          </p:cNvPr>
          <p:cNvSpPr/>
          <p:nvPr/>
        </p:nvSpPr>
        <p:spPr>
          <a:xfrm>
            <a:off x="8293647" y="3012845"/>
            <a:ext cx="2918561" cy="354330"/>
          </a:xfrm>
          <a:prstGeom prst="rect">
            <a:avLst/>
          </a:prstGeom>
          <a:noFill/>
          <a:ln/>
        </p:spPr>
        <p:txBody>
          <a:bodyPr wrap="none" lIns="0" tIns="0" rIns="0" bIns="0" rtlCol="0" anchor="t"/>
          <a:lstStyle/>
          <a:p>
            <a:pPr marL="0" indent="0" algn="l">
              <a:lnSpc>
                <a:spcPts val="2750"/>
              </a:lnSpc>
              <a:buNone/>
            </a:pPr>
            <a:r>
              <a:rPr lang="en-US" sz="2200" b="1" dirty="0">
                <a:latin typeface="Oracle Sans" panose="020B0503020204020204" pitchFamily="34" charset="0"/>
                <a:ea typeface="Anton" pitchFamily="34" charset="-122"/>
                <a:cs typeface="Oracle Sans" panose="020B0503020204020204" pitchFamily="34" charset="0"/>
              </a:rPr>
              <a:t>MCP Protocol</a:t>
            </a:r>
            <a:endParaRPr lang="en-US" sz="2200" b="1" dirty="0">
              <a:latin typeface="Oracle Sans" panose="020B0503020204020204" pitchFamily="34" charset="0"/>
              <a:cs typeface="Oracle Sans" panose="020B0503020204020204" pitchFamily="34" charset="0"/>
            </a:endParaRPr>
          </a:p>
        </p:txBody>
      </p:sp>
      <p:sp>
        <p:nvSpPr>
          <p:cNvPr id="31" name="Text 7">
            <a:extLst>
              <a:ext uri="{FF2B5EF4-FFF2-40B4-BE49-F238E27FC236}">
                <a16:creationId xmlns:a16="http://schemas.microsoft.com/office/drawing/2014/main" id="{9C0FA10B-FE7F-4E31-411F-F68F5389081B}"/>
              </a:ext>
            </a:extLst>
          </p:cNvPr>
          <p:cNvSpPr/>
          <p:nvPr/>
        </p:nvSpPr>
        <p:spPr>
          <a:xfrm>
            <a:off x="8293647" y="3514633"/>
            <a:ext cx="3473328" cy="1088708"/>
          </a:xfrm>
          <a:prstGeom prst="rect">
            <a:avLst/>
          </a:prstGeom>
          <a:noFill/>
          <a:ln/>
        </p:spPr>
        <p:txBody>
          <a:bodyPr wrap="square" lIns="0" tIns="0" rIns="0" bIns="0" rtlCol="0" anchor="t"/>
          <a:lstStyle/>
          <a:p>
            <a:pPr marL="0" indent="0" algn="l">
              <a:lnSpc>
                <a:spcPts val="2850"/>
              </a:lnSpc>
              <a:buNone/>
            </a:pPr>
            <a:r>
              <a:rPr lang="en-US" sz="1750" dirty="0">
                <a:latin typeface="Oracle Sans" panose="020B0503020204020204" pitchFamily="34" charset="0"/>
                <a:ea typeface="Fira Sans" pitchFamily="34" charset="-122"/>
                <a:cs typeface="Oracle Sans" panose="020B0503020204020204" pitchFamily="34" charset="0"/>
              </a:rPr>
              <a:t>The standardized language that ensures smooth, real-time communication and interoperability.</a:t>
            </a:r>
            <a:endParaRPr lang="en-US" sz="1750" dirty="0">
              <a:latin typeface="Oracle Sans" panose="020B0503020204020204" pitchFamily="34" charset="0"/>
              <a:cs typeface="Oracle Sans" panose="020B0503020204020204" pitchFamily="34" charset="0"/>
            </a:endParaRPr>
          </a:p>
        </p:txBody>
      </p:sp>
      <p:sp>
        <p:nvSpPr>
          <p:cNvPr id="32" name="Text 8">
            <a:extLst>
              <a:ext uri="{FF2B5EF4-FFF2-40B4-BE49-F238E27FC236}">
                <a16:creationId xmlns:a16="http://schemas.microsoft.com/office/drawing/2014/main" id="{4F828B9D-22C7-EC10-E6AD-93AF96389ED0}"/>
              </a:ext>
            </a:extLst>
          </p:cNvPr>
          <p:cNvSpPr/>
          <p:nvPr/>
        </p:nvSpPr>
        <p:spPr>
          <a:xfrm>
            <a:off x="748244" y="5671576"/>
            <a:ext cx="13426144" cy="362903"/>
          </a:xfrm>
          <a:prstGeom prst="rect">
            <a:avLst/>
          </a:prstGeom>
          <a:noFill/>
          <a:ln/>
        </p:spPr>
        <p:txBody>
          <a:bodyPr wrap="none" lIns="0" tIns="0" rIns="0" bIns="0" rtlCol="0" anchor="t"/>
          <a:lstStyle/>
          <a:p>
            <a:pPr marL="0" indent="0" algn="l">
              <a:lnSpc>
                <a:spcPts val="2850"/>
              </a:lnSpc>
              <a:buNone/>
            </a:pPr>
            <a:r>
              <a:rPr lang="en-US" sz="1750" dirty="0">
                <a:latin typeface="Oracle Sans" panose="020B0503020204020204" pitchFamily="34" charset="0"/>
                <a:ea typeface="Fira Sans" pitchFamily="34" charset="-122"/>
                <a:cs typeface="Oracle Sans" panose="020B0503020204020204" pitchFamily="34" charset="0"/>
              </a:rPr>
              <a:t>This elegant three-part structure enables AI to interact dynamically with the digital ecosystem.</a:t>
            </a:r>
            <a:endParaRPr lang="en-US" sz="1750" dirty="0">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20554658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3AEB9-1486-7B98-8CB8-005A8F92023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C019236-DE4E-8553-0715-B264D4B3529C}"/>
              </a:ext>
            </a:extLst>
          </p:cNvPr>
          <p:cNvSpPr>
            <a:spLocks noGrp="1"/>
          </p:cNvSpPr>
          <p:nvPr>
            <p:ph type="sldNum" sz="quarter" idx="17"/>
          </p:nvPr>
        </p:nvSpPr>
        <p:spPr/>
        <p:txBody>
          <a:bodyPr/>
          <a:lstStyle/>
          <a:p>
            <a:fld id="{345D60D9-5372-5F40-9443-0F9AE5BDC3C8}" type="slidenum">
              <a:rPr lang="en-US" smtClean="0"/>
              <a:pPr/>
              <a:t>5</a:t>
            </a:fld>
            <a:endParaRPr lang="en-US" dirty="0"/>
          </a:p>
        </p:txBody>
      </p:sp>
      <p:sp>
        <p:nvSpPr>
          <p:cNvPr id="4" name="Footer Placeholder 3">
            <a:extLst>
              <a:ext uri="{FF2B5EF4-FFF2-40B4-BE49-F238E27FC236}">
                <a16:creationId xmlns:a16="http://schemas.microsoft.com/office/drawing/2014/main" id="{8DB3387A-C13F-77FE-9C1E-E5B3A3491A79}"/>
              </a:ext>
            </a:extLst>
          </p:cNvPr>
          <p:cNvSpPr>
            <a:spLocks noGrp="1"/>
          </p:cNvSpPr>
          <p:nvPr>
            <p:ph type="ftr" sz="quarter" idx="16"/>
          </p:nvPr>
        </p:nvSpPr>
        <p:spPr>
          <a:xfrm>
            <a:off x="1127759" y="6423978"/>
            <a:ext cx="7302257" cy="365125"/>
          </a:xfrm>
        </p:spPr>
        <p:txBody>
          <a:bodyPr/>
          <a:lstStyle/>
          <a:p>
            <a:r>
              <a:rPr lang="en-US" dirty="0"/>
              <a:t>Copyright © 2025, Oracle and/or its affiliates |  Confidential: Internal/Restricted/Highly Restricted</a:t>
            </a:r>
          </a:p>
        </p:txBody>
      </p:sp>
      <p:sp>
        <p:nvSpPr>
          <p:cNvPr id="5" name="Rectangle 4">
            <a:extLst>
              <a:ext uri="{FF2B5EF4-FFF2-40B4-BE49-F238E27FC236}">
                <a16:creationId xmlns:a16="http://schemas.microsoft.com/office/drawing/2014/main" id="{2BB2D1B3-C962-572D-4F0A-70A0BC7448E5}"/>
              </a:ext>
            </a:extLst>
          </p:cNvPr>
          <p:cNvSpPr/>
          <p:nvPr/>
        </p:nvSpPr>
        <p:spPr>
          <a:xfrm>
            <a:off x="0" y="253675"/>
            <a:ext cx="12122042" cy="6836857"/>
          </a:xfrm>
          <a:prstGeom prst="rect">
            <a:avLst/>
          </a:prstGeom>
          <a:solidFill>
            <a:srgbClr val="0E27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B6FFBFE5-E1B4-F948-85B1-E317EB24FEC8}"/>
              </a:ext>
            </a:extLst>
          </p:cNvPr>
          <p:cNvSpPr txBox="1"/>
          <p:nvPr/>
        </p:nvSpPr>
        <p:spPr>
          <a:xfrm>
            <a:off x="448129" y="389808"/>
            <a:ext cx="7845518" cy="1046440"/>
          </a:xfrm>
          <a:prstGeom prst="rect">
            <a:avLst/>
          </a:prstGeom>
          <a:noFill/>
        </p:spPr>
        <p:txBody>
          <a:bodyPr wrap="square" rtlCol="0">
            <a:spAutoFit/>
          </a:bodyPr>
          <a:lstStyle/>
          <a:p>
            <a:r>
              <a:rPr lang="en-US" b="1" dirty="0">
                <a:solidFill>
                  <a:srgbClr val="C74633"/>
                </a:solidFill>
                <a:latin typeface="Oracle Sans" panose="020B0503020204020204" pitchFamily="34" charset="0"/>
                <a:cs typeface="Oracle Sans" panose="020B0503020204020204" pitchFamily="34" charset="0"/>
              </a:rPr>
              <a:t>CHAPTER 3(cont.)</a:t>
            </a:r>
          </a:p>
          <a:p>
            <a:r>
              <a:rPr lang="en-US" sz="4400" b="1" dirty="0">
                <a:solidFill>
                  <a:srgbClr val="C74633"/>
                </a:solidFill>
                <a:latin typeface="Oracle Sans" panose="020B0503020204020204" pitchFamily="34" charset="0"/>
                <a:cs typeface="Oracle Sans" panose="020B0503020204020204" pitchFamily="34" charset="0"/>
              </a:rPr>
              <a:t>Capabilities of MCP </a:t>
            </a:r>
          </a:p>
        </p:txBody>
      </p:sp>
      <p:sp>
        <p:nvSpPr>
          <p:cNvPr id="65" name="TextBox 64">
            <a:extLst>
              <a:ext uri="{FF2B5EF4-FFF2-40B4-BE49-F238E27FC236}">
                <a16:creationId xmlns:a16="http://schemas.microsoft.com/office/drawing/2014/main" id="{B9142AB1-963A-CF27-44E6-89E2825333F5}"/>
              </a:ext>
            </a:extLst>
          </p:cNvPr>
          <p:cNvSpPr txBox="1"/>
          <p:nvPr/>
        </p:nvSpPr>
        <p:spPr>
          <a:xfrm>
            <a:off x="8417876" y="4145894"/>
            <a:ext cx="189642" cy="523220"/>
          </a:xfrm>
          <a:prstGeom prst="rect">
            <a:avLst/>
          </a:prstGeom>
          <a:noFill/>
        </p:spPr>
        <p:txBody>
          <a:bodyPr wrap="square" rtlCol="0">
            <a:spAutoFit/>
          </a:bodyPr>
          <a:lstStyle/>
          <a:p>
            <a:r>
              <a:rPr lang="en-US" sz="2800" b="1" dirty="0">
                <a:solidFill>
                  <a:srgbClr val="0E2741"/>
                </a:solidFill>
              </a:rPr>
              <a:t>2</a:t>
            </a:r>
          </a:p>
        </p:txBody>
      </p:sp>
      <p:pic>
        <p:nvPicPr>
          <p:cNvPr id="22" name="Image 0" descr="preencoded.png">
            <a:extLst>
              <a:ext uri="{FF2B5EF4-FFF2-40B4-BE49-F238E27FC236}">
                <a16:creationId xmlns:a16="http://schemas.microsoft.com/office/drawing/2014/main" id="{6F24060C-E8D1-177C-E570-394A5D4EEE9C}"/>
              </a:ext>
            </a:extLst>
          </p:cNvPr>
          <p:cNvPicPr>
            <a:picLocks noChangeAspect="1"/>
          </p:cNvPicPr>
          <p:nvPr/>
        </p:nvPicPr>
        <p:blipFill>
          <a:blip r:embed="rId3"/>
          <a:stretch>
            <a:fillRect/>
          </a:stretch>
        </p:blipFill>
        <p:spPr>
          <a:xfrm>
            <a:off x="637709" y="1830294"/>
            <a:ext cx="3479297" cy="907256"/>
          </a:xfrm>
          <a:prstGeom prst="rect">
            <a:avLst/>
          </a:prstGeom>
        </p:spPr>
      </p:pic>
      <p:sp>
        <p:nvSpPr>
          <p:cNvPr id="23" name="Text 2">
            <a:extLst>
              <a:ext uri="{FF2B5EF4-FFF2-40B4-BE49-F238E27FC236}">
                <a16:creationId xmlns:a16="http://schemas.microsoft.com/office/drawing/2014/main" id="{84AD2304-FDFB-3420-FC36-626C5662A1E4}"/>
              </a:ext>
            </a:extLst>
          </p:cNvPr>
          <p:cNvSpPr/>
          <p:nvPr/>
        </p:nvSpPr>
        <p:spPr>
          <a:xfrm>
            <a:off x="637709" y="2974899"/>
            <a:ext cx="2918561" cy="354330"/>
          </a:xfrm>
          <a:prstGeom prst="rect">
            <a:avLst/>
          </a:prstGeom>
          <a:noFill/>
          <a:ln/>
        </p:spPr>
        <p:txBody>
          <a:bodyPr wrap="none" lIns="0" tIns="0" rIns="0" bIns="0" rtlCol="0" anchor="t"/>
          <a:lstStyle/>
          <a:p>
            <a:pPr>
              <a:lnSpc>
                <a:spcPts val="2750"/>
              </a:lnSpc>
            </a:pPr>
            <a:r>
              <a:rPr lang="en-US" sz="2200" b="1" dirty="0">
                <a:latin typeface="Oracle Sans" panose="020B0503020204020204" pitchFamily="34" charset="0"/>
                <a:ea typeface="Anton" pitchFamily="34" charset="-122"/>
                <a:cs typeface="Oracle Sans" panose="020B0503020204020204" pitchFamily="34" charset="0"/>
              </a:rPr>
              <a:t>MCP </a:t>
            </a:r>
            <a:r>
              <a:rPr lang="en-US" sz="2400" b="1" dirty="0">
                <a:latin typeface="Oracle Sans" panose="020B0503020204020204" pitchFamily="34" charset="0"/>
                <a:cs typeface="Oracle Sans" panose="020B0503020204020204" pitchFamily="34" charset="0"/>
              </a:rPr>
              <a:t>Resources</a:t>
            </a:r>
            <a:endParaRPr lang="en-US" sz="2200" b="1" dirty="0">
              <a:latin typeface="Oracle Sans" panose="020B0503020204020204" pitchFamily="34" charset="0"/>
              <a:cs typeface="Oracle Sans" panose="020B0503020204020204" pitchFamily="34" charset="0"/>
            </a:endParaRPr>
          </a:p>
        </p:txBody>
      </p:sp>
      <p:sp>
        <p:nvSpPr>
          <p:cNvPr id="24" name="Text 3">
            <a:extLst>
              <a:ext uri="{FF2B5EF4-FFF2-40B4-BE49-F238E27FC236}">
                <a16:creationId xmlns:a16="http://schemas.microsoft.com/office/drawing/2014/main" id="{9376BD80-077C-1E27-687A-383439A0508D}"/>
              </a:ext>
            </a:extLst>
          </p:cNvPr>
          <p:cNvSpPr/>
          <p:nvPr/>
        </p:nvSpPr>
        <p:spPr>
          <a:xfrm>
            <a:off x="637709" y="3475026"/>
            <a:ext cx="3479297" cy="3161443"/>
          </a:xfrm>
          <a:prstGeom prst="rect">
            <a:avLst/>
          </a:prstGeom>
          <a:noFill/>
          <a:ln/>
        </p:spPr>
        <p:txBody>
          <a:bodyPr wrap="square" lIns="0" tIns="0" rIns="0" bIns="0" rtlCol="0" anchor="t"/>
          <a:lstStyle/>
          <a:p>
            <a:r>
              <a:rPr lang="en-US" sz="1600" dirty="0"/>
              <a:t>Shared data or services that MCP (Model Context Protocol) exposes to clients</a:t>
            </a:r>
          </a:p>
          <a:p>
            <a:endParaRPr lang="en-US" sz="1600" dirty="0">
              <a:latin typeface="Oracle Sans" panose="020B0503020204020204" pitchFamily="34" charset="0"/>
              <a:cs typeface="Oracle Sans" panose="020B0503020204020204" pitchFamily="34" charset="0"/>
            </a:endParaRPr>
          </a:p>
          <a:p>
            <a:endParaRPr lang="en-US" sz="1600" dirty="0">
              <a:latin typeface="Oracle Sans" panose="020B0503020204020204" pitchFamily="34" charset="0"/>
              <a:cs typeface="Oracle Sans" panose="020B0503020204020204" pitchFamily="34" charset="0"/>
            </a:endParaRPr>
          </a:p>
          <a:p>
            <a:r>
              <a:rPr lang="en-US" sz="1600" b="1" dirty="0">
                <a:latin typeface="Oracle Sans" panose="020B0503020204020204" pitchFamily="34" charset="0"/>
                <a:cs typeface="Oracle Sans" panose="020B0503020204020204" pitchFamily="34" charset="0"/>
              </a:rPr>
              <a:t>Purpose</a:t>
            </a:r>
            <a:r>
              <a:rPr lang="en-US" sz="1600" dirty="0">
                <a:latin typeface="Oracle Sans" panose="020B0503020204020204" pitchFamily="34" charset="0"/>
                <a:cs typeface="Oracle Sans" panose="020B0503020204020204" pitchFamily="34" charset="0"/>
              </a:rPr>
              <a:t>: </a:t>
            </a:r>
            <a:r>
              <a:rPr lang="en-US" sz="1600" dirty="0"/>
              <a:t>Let different apps/models access </a:t>
            </a:r>
            <a:r>
              <a:rPr lang="en-US" sz="1600" b="1" dirty="0"/>
              <a:t>common, structured information</a:t>
            </a:r>
            <a:r>
              <a:rPr lang="en-US" sz="1600" dirty="0"/>
              <a:t> (e.g., documents, datasets, configs)</a:t>
            </a:r>
            <a:endParaRPr lang="en-US" sz="1750" dirty="0">
              <a:latin typeface="Oracle Sans" panose="020B0503020204020204" pitchFamily="34" charset="0"/>
              <a:cs typeface="Oracle Sans" panose="020B0503020204020204" pitchFamily="34" charset="0"/>
            </a:endParaRPr>
          </a:p>
        </p:txBody>
      </p:sp>
      <p:pic>
        <p:nvPicPr>
          <p:cNvPr id="25" name="Image 1" descr="preencoded.png">
            <a:extLst>
              <a:ext uri="{FF2B5EF4-FFF2-40B4-BE49-F238E27FC236}">
                <a16:creationId xmlns:a16="http://schemas.microsoft.com/office/drawing/2014/main" id="{D56869D3-FE1B-273D-0C01-53F37782EC0D}"/>
              </a:ext>
            </a:extLst>
          </p:cNvPr>
          <p:cNvPicPr>
            <a:picLocks noChangeAspect="1"/>
          </p:cNvPicPr>
          <p:nvPr/>
        </p:nvPicPr>
        <p:blipFill>
          <a:blip r:embed="rId4"/>
          <a:stretch>
            <a:fillRect/>
          </a:stretch>
        </p:blipFill>
        <p:spPr>
          <a:xfrm>
            <a:off x="4370888" y="1811718"/>
            <a:ext cx="3479297" cy="907256"/>
          </a:xfrm>
          <a:prstGeom prst="rect">
            <a:avLst/>
          </a:prstGeom>
        </p:spPr>
      </p:pic>
      <p:sp>
        <p:nvSpPr>
          <p:cNvPr id="27" name="Text 4">
            <a:extLst>
              <a:ext uri="{FF2B5EF4-FFF2-40B4-BE49-F238E27FC236}">
                <a16:creationId xmlns:a16="http://schemas.microsoft.com/office/drawing/2014/main" id="{B5966A59-7C26-3E7E-DA55-A05BAA328595}"/>
              </a:ext>
            </a:extLst>
          </p:cNvPr>
          <p:cNvSpPr/>
          <p:nvPr/>
        </p:nvSpPr>
        <p:spPr>
          <a:xfrm>
            <a:off x="4542755" y="3027074"/>
            <a:ext cx="2918561" cy="354330"/>
          </a:xfrm>
          <a:prstGeom prst="rect">
            <a:avLst/>
          </a:prstGeom>
          <a:noFill/>
          <a:ln/>
        </p:spPr>
        <p:txBody>
          <a:bodyPr wrap="none" lIns="0" tIns="0" rIns="0" bIns="0" rtlCol="0" anchor="t"/>
          <a:lstStyle/>
          <a:p>
            <a:pPr>
              <a:lnSpc>
                <a:spcPts val="2750"/>
              </a:lnSpc>
            </a:pPr>
            <a:r>
              <a:rPr lang="en-US" sz="2400" b="1" dirty="0"/>
              <a:t>MCP Tools</a:t>
            </a:r>
            <a:endParaRPr lang="en-US" sz="2200" b="1" dirty="0">
              <a:latin typeface="Oracle Sans" panose="020B0503020204020204" pitchFamily="34" charset="0"/>
              <a:cs typeface="Oracle Sans" panose="020B0503020204020204" pitchFamily="34" charset="0"/>
            </a:endParaRPr>
          </a:p>
        </p:txBody>
      </p:sp>
      <p:sp>
        <p:nvSpPr>
          <p:cNvPr id="28" name="Text 5">
            <a:extLst>
              <a:ext uri="{FF2B5EF4-FFF2-40B4-BE49-F238E27FC236}">
                <a16:creationId xmlns:a16="http://schemas.microsoft.com/office/drawing/2014/main" id="{748BA091-64D4-CBB4-AD61-B3D2B9FC9F60}"/>
              </a:ext>
            </a:extLst>
          </p:cNvPr>
          <p:cNvSpPr/>
          <p:nvPr/>
        </p:nvSpPr>
        <p:spPr>
          <a:xfrm>
            <a:off x="4542756" y="3442882"/>
            <a:ext cx="3473328" cy="3025310"/>
          </a:xfrm>
          <a:prstGeom prst="rect">
            <a:avLst/>
          </a:prstGeom>
          <a:noFill/>
          <a:ln/>
        </p:spPr>
        <p:txBody>
          <a:bodyPr wrap="square" lIns="0" tIns="0" rIns="0" bIns="0" rtlCol="0" anchor="t"/>
          <a:lstStyle/>
          <a:p>
            <a:r>
              <a:rPr lang="en-US" sz="1600" dirty="0"/>
              <a:t>Functions or actions that MCP makes available for clients to call.</a:t>
            </a:r>
          </a:p>
          <a:p>
            <a:endParaRPr lang="en-US" sz="1600" dirty="0">
              <a:latin typeface="Oracle Sans" panose="020B0503020204020204" pitchFamily="34" charset="0"/>
              <a:cs typeface="Oracle Sans" panose="020B0503020204020204" pitchFamily="34" charset="0"/>
            </a:endParaRPr>
          </a:p>
          <a:p>
            <a:endParaRPr lang="en-US" sz="1600" dirty="0">
              <a:latin typeface="Oracle Sans" panose="020B0503020204020204" pitchFamily="34" charset="0"/>
              <a:cs typeface="Oracle Sans" panose="020B0503020204020204" pitchFamily="34" charset="0"/>
            </a:endParaRPr>
          </a:p>
          <a:p>
            <a:endParaRPr lang="en-US" sz="1600" dirty="0">
              <a:latin typeface="Oracle Sans" panose="020B0503020204020204" pitchFamily="34" charset="0"/>
              <a:cs typeface="Oracle Sans" panose="020B0503020204020204" pitchFamily="34" charset="0"/>
            </a:endParaRPr>
          </a:p>
          <a:p>
            <a:r>
              <a:rPr lang="en-US" sz="1600" b="1" dirty="0"/>
              <a:t>Purpose:</a:t>
            </a:r>
            <a:r>
              <a:rPr lang="en-US" sz="1600" dirty="0"/>
              <a:t> Allow automation, computation, or external integrations.</a:t>
            </a:r>
            <a:endParaRPr lang="en-US" sz="1750" dirty="0">
              <a:latin typeface="Oracle Sans" panose="020B0503020204020204" pitchFamily="34" charset="0"/>
              <a:cs typeface="Oracle Sans" panose="020B0503020204020204" pitchFamily="34" charset="0"/>
            </a:endParaRPr>
          </a:p>
        </p:txBody>
      </p:sp>
      <p:pic>
        <p:nvPicPr>
          <p:cNvPr id="29" name="Image 2" descr="preencoded.png">
            <a:extLst>
              <a:ext uri="{FF2B5EF4-FFF2-40B4-BE49-F238E27FC236}">
                <a16:creationId xmlns:a16="http://schemas.microsoft.com/office/drawing/2014/main" id="{ECC0CC37-9FF9-853D-2071-78A7B52AEBFE}"/>
              </a:ext>
            </a:extLst>
          </p:cNvPr>
          <p:cNvPicPr>
            <a:picLocks noChangeAspect="1"/>
          </p:cNvPicPr>
          <p:nvPr/>
        </p:nvPicPr>
        <p:blipFill>
          <a:blip r:embed="rId5"/>
          <a:stretch>
            <a:fillRect/>
          </a:stretch>
        </p:blipFill>
        <p:spPr>
          <a:xfrm>
            <a:off x="8293700" y="1830294"/>
            <a:ext cx="3479297" cy="907256"/>
          </a:xfrm>
          <a:prstGeom prst="rect">
            <a:avLst/>
          </a:prstGeom>
        </p:spPr>
      </p:pic>
      <p:sp>
        <p:nvSpPr>
          <p:cNvPr id="30" name="Text 6">
            <a:extLst>
              <a:ext uri="{FF2B5EF4-FFF2-40B4-BE49-F238E27FC236}">
                <a16:creationId xmlns:a16="http://schemas.microsoft.com/office/drawing/2014/main" id="{ABF03EC9-FFA6-5C56-795C-E0FCE1F9BB03}"/>
              </a:ext>
            </a:extLst>
          </p:cNvPr>
          <p:cNvSpPr/>
          <p:nvPr/>
        </p:nvSpPr>
        <p:spPr>
          <a:xfrm>
            <a:off x="8293647" y="3012845"/>
            <a:ext cx="2918561" cy="354330"/>
          </a:xfrm>
          <a:prstGeom prst="rect">
            <a:avLst/>
          </a:prstGeom>
          <a:noFill/>
          <a:ln/>
        </p:spPr>
        <p:txBody>
          <a:bodyPr wrap="none" lIns="0" tIns="0" rIns="0" bIns="0" rtlCol="0" anchor="t"/>
          <a:lstStyle/>
          <a:p>
            <a:pPr>
              <a:lnSpc>
                <a:spcPts val="2750"/>
              </a:lnSpc>
            </a:pPr>
            <a:r>
              <a:rPr lang="en-US" sz="2200" b="1" dirty="0">
                <a:latin typeface="Oracle Sans" panose="020B0503020204020204" pitchFamily="34" charset="0"/>
                <a:ea typeface="Anton" pitchFamily="34" charset="-122"/>
                <a:cs typeface="Oracle Sans" panose="020B0503020204020204" pitchFamily="34" charset="0"/>
              </a:rPr>
              <a:t>MCP </a:t>
            </a:r>
            <a:r>
              <a:rPr lang="en-US" sz="2400" b="1" dirty="0"/>
              <a:t>Prompts</a:t>
            </a:r>
            <a:endParaRPr lang="en-US" sz="2200" b="1" dirty="0">
              <a:latin typeface="Oracle Sans" panose="020B0503020204020204" pitchFamily="34" charset="0"/>
              <a:cs typeface="Oracle Sans" panose="020B0503020204020204" pitchFamily="34" charset="0"/>
            </a:endParaRPr>
          </a:p>
        </p:txBody>
      </p:sp>
      <p:sp>
        <p:nvSpPr>
          <p:cNvPr id="31" name="Text 7">
            <a:extLst>
              <a:ext uri="{FF2B5EF4-FFF2-40B4-BE49-F238E27FC236}">
                <a16:creationId xmlns:a16="http://schemas.microsoft.com/office/drawing/2014/main" id="{098AC9CE-DE68-CA7B-3227-B0128538886F}"/>
              </a:ext>
            </a:extLst>
          </p:cNvPr>
          <p:cNvSpPr/>
          <p:nvPr/>
        </p:nvSpPr>
        <p:spPr>
          <a:xfrm>
            <a:off x="8293647" y="3514632"/>
            <a:ext cx="3473328" cy="3343368"/>
          </a:xfrm>
          <a:prstGeom prst="rect">
            <a:avLst/>
          </a:prstGeom>
          <a:noFill/>
          <a:ln/>
        </p:spPr>
        <p:txBody>
          <a:bodyPr wrap="square" lIns="0" tIns="0" rIns="0" bIns="0" rtlCol="0" anchor="t"/>
          <a:lstStyle/>
          <a:p>
            <a:r>
              <a:rPr lang="en-US" sz="1600" dirty="0"/>
              <a:t>Predefined or dynamic instructions/templates that guide how the model interacts with resources/tools.</a:t>
            </a:r>
          </a:p>
          <a:p>
            <a:endParaRPr lang="en-US" sz="1600" dirty="0"/>
          </a:p>
          <a:p>
            <a:r>
              <a:rPr lang="en-US" sz="1600" b="1" dirty="0"/>
              <a:t>Purpose:</a:t>
            </a:r>
            <a:r>
              <a:rPr lang="en-US" sz="1600" dirty="0"/>
              <a:t> Ensure consistency and efficiency when asking the model to perform tasks.</a:t>
            </a:r>
            <a:endParaRPr lang="en-US" sz="1750" dirty="0">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10670826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3BCBA-70F6-B5AC-C42B-2A67B7229B3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E6ACC9F-AAE7-3450-B09F-6603B8E8122E}"/>
              </a:ext>
            </a:extLst>
          </p:cNvPr>
          <p:cNvSpPr>
            <a:spLocks noGrp="1"/>
          </p:cNvSpPr>
          <p:nvPr>
            <p:ph type="sldNum" sz="quarter" idx="17"/>
          </p:nvPr>
        </p:nvSpPr>
        <p:spPr/>
        <p:txBody>
          <a:bodyPr/>
          <a:lstStyle/>
          <a:p>
            <a:fld id="{345D60D9-5372-5F40-9443-0F9AE5BDC3C8}" type="slidenum">
              <a:rPr lang="en-US" smtClean="0"/>
              <a:pPr/>
              <a:t>6</a:t>
            </a:fld>
            <a:endParaRPr lang="en-US" dirty="0"/>
          </a:p>
        </p:txBody>
      </p:sp>
      <p:sp>
        <p:nvSpPr>
          <p:cNvPr id="4" name="Footer Placeholder 3">
            <a:extLst>
              <a:ext uri="{FF2B5EF4-FFF2-40B4-BE49-F238E27FC236}">
                <a16:creationId xmlns:a16="http://schemas.microsoft.com/office/drawing/2014/main" id="{6D72CB9F-F831-AAC7-4274-89378CA6874B}"/>
              </a:ext>
            </a:extLst>
          </p:cNvPr>
          <p:cNvSpPr>
            <a:spLocks noGrp="1"/>
          </p:cNvSpPr>
          <p:nvPr>
            <p:ph type="ftr" sz="quarter" idx="16"/>
          </p:nvPr>
        </p:nvSpPr>
        <p:spPr>
          <a:xfrm>
            <a:off x="1127759" y="6423978"/>
            <a:ext cx="7302257" cy="365125"/>
          </a:xfrm>
        </p:spPr>
        <p:txBody>
          <a:bodyPr/>
          <a:lstStyle/>
          <a:p>
            <a:r>
              <a:rPr lang="en-US" dirty="0"/>
              <a:t>Copyright © 2025, Oracle and/or its affiliates |  Confidential: Internal/Restricted/Highly Restricted</a:t>
            </a:r>
          </a:p>
        </p:txBody>
      </p:sp>
      <p:sp>
        <p:nvSpPr>
          <p:cNvPr id="5" name="Rectangle 4">
            <a:extLst>
              <a:ext uri="{FF2B5EF4-FFF2-40B4-BE49-F238E27FC236}">
                <a16:creationId xmlns:a16="http://schemas.microsoft.com/office/drawing/2014/main" id="{6C90CA81-3AF1-D3A3-FFEB-7B4ACF322100}"/>
              </a:ext>
            </a:extLst>
          </p:cNvPr>
          <p:cNvSpPr/>
          <p:nvPr/>
        </p:nvSpPr>
        <p:spPr>
          <a:xfrm>
            <a:off x="69955" y="1"/>
            <a:ext cx="12052085" cy="7017912"/>
          </a:xfrm>
          <a:prstGeom prst="rect">
            <a:avLst/>
          </a:prstGeom>
          <a:solidFill>
            <a:srgbClr val="0E27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80A9A968-16D5-DC19-B204-F37D14E1523C}"/>
              </a:ext>
            </a:extLst>
          </p:cNvPr>
          <p:cNvSpPr txBox="1"/>
          <p:nvPr/>
        </p:nvSpPr>
        <p:spPr>
          <a:xfrm>
            <a:off x="437619" y="302150"/>
            <a:ext cx="7845518" cy="1046440"/>
          </a:xfrm>
          <a:prstGeom prst="rect">
            <a:avLst/>
          </a:prstGeom>
          <a:noFill/>
        </p:spPr>
        <p:txBody>
          <a:bodyPr wrap="square" rtlCol="0">
            <a:spAutoFit/>
          </a:bodyPr>
          <a:lstStyle/>
          <a:p>
            <a:r>
              <a:rPr lang="en-US" b="1" dirty="0">
                <a:solidFill>
                  <a:srgbClr val="C74633"/>
                </a:solidFill>
                <a:latin typeface="Oracle Sans" panose="020B0503020204020204" pitchFamily="34" charset="0"/>
                <a:cs typeface="Oracle Sans" panose="020B0503020204020204" pitchFamily="34" charset="0"/>
              </a:rPr>
              <a:t>CHAPTER 4</a:t>
            </a:r>
          </a:p>
          <a:p>
            <a:r>
              <a:rPr lang="en-US" sz="4400" b="1" dirty="0">
                <a:solidFill>
                  <a:srgbClr val="C74633"/>
                </a:solidFill>
                <a:latin typeface="Oracle Sans" panose="020B0503020204020204" pitchFamily="34" charset="0"/>
                <a:cs typeface="Oracle Sans" panose="020B0503020204020204" pitchFamily="34" charset="0"/>
              </a:rPr>
              <a:t>General Structure of MCP</a:t>
            </a:r>
          </a:p>
        </p:txBody>
      </p:sp>
      <p:sp>
        <p:nvSpPr>
          <p:cNvPr id="65" name="TextBox 64">
            <a:extLst>
              <a:ext uri="{FF2B5EF4-FFF2-40B4-BE49-F238E27FC236}">
                <a16:creationId xmlns:a16="http://schemas.microsoft.com/office/drawing/2014/main" id="{56975886-2A1A-DAB0-622E-DECC43E6AFD7}"/>
              </a:ext>
            </a:extLst>
          </p:cNvPr>
          <p:cNvSpPr txBox="1"/>
          <p:nvPr/>
        </p:nvSpPr>
        <p:spPr>
          <a:xfrm>
            <a:off x="8417876" y="4145894"/>
            <a:ext cx="189642" cy="523220"/>
          </a:xfrm>
          <a:prstGeom prst="rect">
            <a:avLst/>
          </a:prstGeom>
          <a:noFill/>
        </p:spPr>
        <p:txBody>
          <a:bodyPr wrap="square" rtlCol="0">
            <a:spAutoFit/>
          </a:bodyPr>
          <a:lstStyle/>
          <a:p>
            <a:r>
              <a:rPr lang="en-US" sz="2800" b="1" dirty="0">
                <a:solidFill>
                  <a:srgbClr val="0E2741"/>
                </a:solidFill>
              </a:rPr>
              <a:t>2</a:t>
            </a:r>
          </a:p>
        </p:txBody>
      </p:sp>
      <p:pic>
        <p:nvPicPr>
          <p:cNvPr id="2" name="Picture 1">
            <a:extLst>
              <a:ext uri="{FF2B5EF4-FFF2-40B4-BE49-F238E27FC236}">
                <a16:creationId xmlns:a16="http://schemas.microsoft.com/office/drawing/2014/main" id="{E6E2D112-2FD5-1037-1B1B-1AB85222B6A2}"/>
              </a:ext>
            </a:extLst>
          </p:cNvPr>
          <p:cNvPicPr>
            <a:picLocks noChangeAspect="1"/>
          </p:cNvPicPr>
          <p:nvPr/>
        </p:nvPicPr>
        <p:blipFill>
          <a:blip r:embed="rId3"/>
          <a:stretch>
            <a:fillRect/>
          </a:stretch>
        </p:blipFill>
        <p:spPr>
          <a:xfrm>
            <a:off x="2383902" y="1650739"/>
            <a:ext cx="7424193" cy="4348976"/>
          </a:xfrm>
          <a:prstGeom prst="rect">
            <a:avLst/>
          </a:prstGeom>
        </p:spPr>
      </p:pic>
    </p:spTree>
    <p:extLst>
      <p:ext uri="{BB962C8B-B14F-4D97-AF65-F5344CB8AC3E}">
        <p14:creationId xmlns:p14="http://schemas.microsoft.com/office/powerpoint/2010/main" val="25084974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B92BF-2EA9-2D51-1746-42B7913F415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8C9576-089B-164B-FC23-907198083243}"/>
              </a:ext>
            </a:extLst>
          </p:cNvPr>
          <p:cNvSpPr>
            <a:spLocks noGrp="1"/>
          </p:cNvSpPr>
          <p:nvPr>
            <p:ph type="sldNum" sz="quarter" idx="17"/>
          </p:nvPr>
        </p:nvSpPr>
        <p:spPr/>
        <p:txBody>
          <a:bodyPr/>
          <a:lstStyle/>
          <a:p>
            <a:fld id="{345D60D9-5372-5F40-9443-0F9AE5BDC3C8}" type="slidenum">
              <a:rPr lang="en-US" smtClean="0"/>
              <a:pPr/>
              <a:t>7</a:t>
            </a:fld>
            <a:endParaRPr lang="en-US" dirty="0"/>
          </a:p>
        </p:txBody>
      </p:sp>
      <p:sp>
        <p:nvSpPr>
          <p:cNvPr id="4" name="Footer Placeholder 3">
            <a:extLst>
              <a:ext uri="{FF2B5EF4-FFF2-40B4-BE49-F238E27FC236}">
                <a16:creationId xmlns:a16="http://schemas.microsoft.com/office/drawing/2014/main" id="{B7D20FC1-2AA2-24F0-D9FF-BA1A2B620D0B}"/>
              </a:ext>
            </a:extLst>
          </p:cNvPr>
          <p:cNvSpPr>
            <a:spLocks noGrp="1"/>
          </p:cNvSpPr>
          <p:nvPr>
            <p:ph type="ftr" sz="quarter" idx="16"/>
          </p:nvPr>
        </p:nvSpPr>
        <p:spPr>
          <a:xfrm>
            <a:off x="1127759" y="6423978"/>
            <a:ext cx="7302257" cy="365125"/>
          </a:xfrm>
        </p:spPr>
        <p:txBody>
          <a:bodyPr/>
          <a:lstStyle/>
          <a:p>
            <a:r>
              <a:rPr lang="en-US" dirty="0"/>
              <a:t>Copyright © 2025, Oracle and/or its affiliates |  Confidential: Internal/Restricted/Highly Restricted</a:t>
            </a:r>
          </a:p>
        </p:txBody>
      </p:sp>
      <p:sp>
        <p:nvSpPr>
          <p:cNvPr id="5" name="Rectangle 4">
            <a:extLst>
              <a:ext uri="{FF2B5EF4-FFF2-40B4-BE49-F238E27FC236}">
                <a16:creationId xmlns:a16="http://schemas.microsoft.com/office/drawing/2014/main" id="{2A809EED-7551-6C35-6BE0-0AF7CA2CDC8D}"/>
              </a:ext>
            </a:extLst>
          </p:cNvPr>
          <p:cNvSpPr/>
          <p:nvPr/>
        </p:nvSpPr>
        <p:spPr>
          <a:xfrm>
            <a:off x="69957" y="251460"/>
            <a:ext cx="12052085" cy="6720521"/>
          </a:xfrm>
          <a:prstGeom prst="rect">
            <a:avLst/>
          </a:prstGeom>
          <a:solidFill>
            <a:srgbClr val="0E27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95C5054F-6D00-0300-68F6-03C4C6DF78F1}"/>
              </a:ext>
            </a:extLst>
          </p:cNvPr>
          <p:cNvSpPr txBox="1"/>
          <p:nvPr/>
        </p:nvSpPr>
        <p:spPr>
          <a:xfrm>
            <a:off x="448129" y="604299"/>
            <a:ext cx="2862630" cy="1077218"/>
          </a:xfrm>
          <a:prstGeom prst="rect">
            <a:avLst/>
          </a:prstGeom>
          <a:noFill/>
        </p:spPr>
        <p:txBody>
          <a:bodyPr wrap="square" rtlCol="0">
            <a:spAutoFit/>
          </a:bodyPr>
          <a:lstStyle/>
          <a:p>
            <a:r>
              <a:rPr lang="en-US" sz="3200" b="1" dirty="0">
                <a:solidFill>
                  <a:srgbClr val="C74633"/>
                </a:solidFill>
                <a:latin typeface="Oracle Sans" panose="020B0503020204020204" pitchFamily="34" charset="0"/>
                <a:cs typeface="Oracle Sans" panose="020B0503020204020204" pitchFamily="34" charset="0"/>
              </a:rPr>
              <a:t>CHAPTER 5:</a:t>
            </a:r>
          </a:p>
          <a:p>
            <a:r>
              <a:rPr lang="en-US" sz="3200" b="1" dirty="0">
                <a:solidFill>
                  <a:srgbClr val="C74633"/>
                </a:solidFill>
                <a:latin typeface="Oracle Sans" panose="020B0503020204020204" pitchFamily="34" charset="0"/>
                <a:cs typeface="Oracle Sans" panose="020B0503020204020204" pitchFamily="34" charset="0"/>
              </a:rPr>
              <a:t>Flow Diagram</a:t>
            </a:r>
          </a:p>
        </p:txBody>
      </p:sp>
      <p:sp>
        <p:nvSpPr>
          <p:cNvPr id="65" name="TextBox 64">
            <a:extLst>
              <a:ext uri="{FF2B5EF4-FFF2-40B4-BE49-F238E27FC236}">
                <a16:creationId xmlns:a16="http://schemas.microsoft.com/office/drawing/2014/main" id="{59BCAEE6-2CE3-6B1A-FD78-70E595FD2322}"/>
              </a:ext>
            </a:extLst>
          </p:cNvPr>
          <p:cNvSpPr txBox="1"/>
          <p:nvPr/>
        </p:nvSpPr>
        <p:spPr>
          <a:xfrm>
            <a:off x="8417876" y="4145894"/>
            <a:ext cx="189642" cy="523220"/>
          </a:xfrm>
          <a:prstGeom prst="rect">
            <a:avLst/>
          </a:prstGeom>
          <a:noFill/>
        </p:spPr>
        <p:txBody>
          <a:bodyPr wrap="square" rtlCol="0">
            <a:spAutoFit/>
          </a:bodyPr>
          <a:lstStyle/>
          <a:p>
            <a:r>
              <a:rPr lang="en-US" sz="2800" b="1" dirty="0">
                <a:solidFill>
                  <a:srgbClr val="0E2741"/>
                </a:solidFill>
              </a:rPr>
              <a:t>2</a:t>
            </a:r>
          </a:p>
        </p:txBody>
      </p:sp>
      <p:pic>
        <p:nvPicPr>
          <p:cNvPr id="11" name="Picture 10">
            <a:extLst>
              <a:ext uri="{FF2B5EF4-FFF2-40B4-BE49-F238E27FC236}">
                <a16:creationId xmlns:a16="http://schemas.microsoft.com/office/drawing/2014/main" id="{DA744736-B6C0-C59A-CD9A-6FD2053EC02D}"/>
              </a:ext>
            </a:extLst>
          </p:cNvPr>
          <p:cNvPicPr>
            <a:picLocks noChangeAspect="1"/>
          </p:cNvPicPr>
          <p:nvPr/>
        </p:nvPicPr>
        <p:blipFill>
          <a:blip r:embed="rId3"/>
          <a:stretch>
            <a:fillRect/>
          </a:stretch>
        </p:blipFill>
        <p:spPr>
          <a:xfrm>
            <a:off x="4055012" y="592313"/>
            <a:ext cx="7208119" cy="6014227"/>
          </a:xfrm>
          <a:prstGeom prst="rect">
            <a:avLst/>
          </a:prstGeom>
        </p:spPr>
      </p:pic>
    </p:spTree>
    <p:extLst>
      <p:ext uri="{BB962C8B-B14F-4D97-AF65-F5344CB8AC3E}">
        <p14:creationId xmlns:p14="http://schemas.microsoft.com/office/powerpoint/2010/main" val="7810967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37D41-B772-D8C5-01CE-DDCAB992238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1205D7D-8D92-E9D5-10BC-DB811FAC151A}"/>
              </a:ext>
            </a:extLst>
          </p:cNvPr>
          <p:cNvSpPr>
            <a:spLocks noGrp="1"/>
          </p:cNvSpPr>
          <p:nvPr>
            <p:ph type="sldNum" sz="quarter" idx="17"/>
          </p:nvPr>
        </p:nvSpPr>
        <p:spPr/>
        <p:txBody>
          <a:bodyPr/>
          <a:lstStyle/>
          <a:p>
            <a:fld id="{345D60D9-5372-5F40-9443-0F9AE5BDC3C8}" type="slidenum">
              <a:rPr lang="en-US" smtClean="0"/>
              <a:pPr/>
              <a:t>8</a:t>
            </a:fld>
            <a:endParaRPr lang="en-US" dirty="0"/>
          </a:p>
        </p:txBody>
      </p:sp>
      <p:sp>
        <p:nvSpPr>
          <p:cNvPr id="4" name="Footer Placeholder 3">
            <a:extLst>
              <a:ext uri="{FF2B5EF4-FFF2-40B4-BE49-F238E27FC236}">
                <a16:creationId xmlns:a16="http://schemas.microsoft.com/office/drawing/2014/main" id="{F0C5A150-642E-A746-45F8-4A552032E318}"/>
              </a:ext>
            </a:extLst>
          </p:cNvPr>
          <p:cNvSpPr>
            <a:spLocks noGrp="1"/>
          </p:cNvSpPr>
          <p:nvPr>
            <p:ph type="ftr" sz="quarter" idx="16"/>
          </p:nvPr>
        </p:nvSpPr>
        <p:spPr>
          <a:xfrm>
            <a:off x="1127759" y="6423978"/>
            <a:ext cx="7302257" cy="365125"/>
          </a:xfrm>
        </p:spPr>
        <p:txBody>
          <a:bodyPr/>
          <a:lstStyle/>
          <a:p>
            <a:r>
              <a:rPr lang="en-US" dirty="0"/>
              <a:t>Copyright © 2025, Oracle and/or its affiliates |  Confidential: Internal/Restricted/Highly Restricted</a:t>
            </a:r>
          </a:p>
        </p:txBody>
      </p:sp>
      <p:sp>
        <p:nvSpPr>
          <p:cNvPr id="5" name="Rectangle 4">
            <a:extLst>
              <a:ext uri="{FF2B5EF4-FFF2-40B4-BE49-F238E27FC236}">
                <a16:creationId xmlns:a16="http://schemas.microsoft.com/office/drawing/2014/main" id="{AA6BC422-2064-6F37-C720-4A7B70B5617B}"/>
              </a:ext>
            </a:extLst>
          </p:cNvPr>
          <p:cNvSpPr/>
          <p:nvPr/>
        </p:nvSpPr>
        <p:spPr>
          <a:xfrm>
            <a:off x="69957" y="118715"/>
            <a:ext cx="12052085" cy="6720521"/>
          </a:xfrm>
          <a:prstGeom prst="rect">
            <a:avLst/>
          </a:prstGeom>
          <a:solidFill>
            <a:srgbClr val="0E27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98CE94EC-4018-90DF-5E4F-1B467E6B55BD}"/>
              </a:ext>
            </a:extLst>
          </p:cNvPr>
          <p:cNvSpPr txBox="1"/>
          <p:nvPr/>
        </p:nvSpPr>
        <p:spPr>
          <a:xfrm>
            <a:off x="448128" y="604299"/>
            <a:ext cx="9610271" cy="1046440"/>
          </a:xfrm>
          <a:prstGeom prst="rect">
            <a:avLst/>
          </a:prstGeom>
          <a:noFill/>
        </p:spPr>
        <p:txBody>
          <a:bodyPr wrap="square" rtlCol="0">
            <a:spAutoFit/>
          </a:bodyPr>
          <a:lstStyle/>
          <a:p>
            <a:r>
              <a:rPr lang="en-US" b="1" dirty="0">
                <a:solidFill>
                  <a:srgbClr val="C74633"/>
                </a:solidFill>
                <a:latin typeface="Oracle Sans" panose="020B0503020204020204" pitchFamily="34" charset="0"/>
                <a:cs typeface="Oracle Sans" panose="020B0503020204020204" pitchFamily="34" charset="0"/>
              </a:rPr>
              <a:t>CHAPTER 5</a:t>
            </a:r>
          </a:p>
          <a:p>
            <a:r>
              <a:rPr lang="en-US" sz="4400" b="1" dirty="0">
                <a:solidFill>
                  <a:srgbClr val="C74633"/>
                </a:solidFill>
                <a:latin typeface="Oracle Sans" panose="020B0503020204020204" pitchFamily="34" charset="0"/>
                <a:cs typeface="Oracle Sans" panose="020B0503020204020204" pitchFamily="34" charset="0"/>
              </a:rPr>
              <a:t>Real-World Impact: MCP in Action</a:t>
            </a:r>
          </a:p>
        </p:txBody>
      </p:sp>
      <p:sp>
        <p:nvSpPr>
          <p:cNvPr id="65" name="TextBox 64">
            <a:extLst>
              <a:ext uri="{FF2B5EF4-FFF2-40B4-BE49-F238E27FC236}">
                <a16:creationId xmlns:a16="http://schemas.microsoft.com/office/drawing/2014/main" id="{F4E3851A-37BF-BDB6-8258-0FF57F2F6266}"/>
              </a:ext>
            </a:extLst>
          </p:cNvPr>
          <p:cNvSpPr txBox="1"/>
          <p:nvPr/>
        </p:nvSpPr>
        <p:spPr>
          <a:xfrm>
            <a:off x="8417876" y="4145894"/>
            <a:ext cx="189642" cy="523220"/>
          </a:xfrm>
          <a:prstGeom prst="rect">
            <a:avLst/>
          </a:prstGeom>
          <a:noFill/>
        </p:spPr>
        <p:txBody>
          <a:bodyPr wrap="square" rtlCol="0">
            <a:spAutoFit/>
          </a:bodyPr>
          <a:lstStyle/>
          <a:p>
            <a:r>
              <a:rPr lang="en-US" sz="2800" b="1" dirty="0">
                <a:solidFill>
                  <a:srgbClr val="0E2741"/>
                </a:solidFill>
              </a:rPr>
              <a:t>2</a:t>
            </a:r>
          </a:p>
        </p:txBody>
      </p:sp>
      <p:sp>
        <p:nvSpPr>
          <p:cNvPr id="2" name="TextBox 1">
            <a:extLst>
              <a:ext uri="{FF2B5EF4-FFF2-40B4-BE49-F238E27FC236}">
                <a16:creationId xmlns:a16="http://schemas.microsoft.com/office/drawing/2014/main" id="{5356154F-E7F0-AA9E-AB90-14EE715BE86C}"/>
              </a:ext>
            </a:extLst>
          </p:cNvPr>
          <p:cNvSpPr txBox="1"/>
          <p:nvPr/>
        </p:nvSpPr>
        <p:spPr>
          <a:xfrm>
            <a:off x="448128" y="1643394"/>
            <a:ext cx="6060141" cy="3416320"/>
          </a:xfrm>
          <a:prstGeom prst="rect">
            <a:avLst/>
          </a:prstGeom>
          <a:noFill/>
        </p:spPr>
        <p:txBody>
          <a:bodyPr wrap="square" rtlCol="0">
            <a:spAutoFit/>
          </a:bodyPr>
          <a:lstStyle/>
          <a:p>
            <a:pPr marL="285750" indent="-285750" algn="just">
              <a:buFont typeface="Arial" panose="020B0604020202020204" pitchFamily="34" charset="0"/>
              <a:buChar char="•"/>
            </a:pPr>
            <a:r>
              <a:rPr lang="en-US" b="1" dirty="0">
                <a:latin typeface="Oracle Sans" panose="020B0503020204020204" pitchFamily="34" charset="0"/>
                <a:cs typeface="Oracle Sans" panose="020B0503020204020204" pitchFamily="34" charset="0"/>
              </a:rPr>
              <a:t>Smart Assistants:</a:t>
            </a:r>
            <a:r>
              <a:rPr lang="en-US" dirty="0">
                <a:latin typeface="Oracle Sans" panose="020B0503020204020204" pitchFamily="34" charset="0"/>
                <a:cs typeface="Oracle Sans" panose="020B0503020204020204" pitchFamily="34" charset="0"/>
              </a:rPr>
              <a:t> AI can access your emails, calendars, and documents to schedule meetings or summarize projects.</a:t>
            </a:r>
          </a:p>
          <a:p>
            <a:pPr algn="just"/>
            <a:endParaRPr lang="en-US" dirty="0">
              <a:latin typeface="Oracle Sans" panose="020B0503020204020204" pitchFamily="34" charset="0"/>
              <a:cs typeface="Oracle Sans" panose="020B0503020204020204" pitchFamily="34" charset="0"/>
            </a:endParaRPr>
          </a:p>
          <a:p>
            <a:pPr marL="285750" indent="-285750" algn="just">
              <a:buFont typeface="Arial" panose="020B0604020202020204" pitchFamily="34" charset="0"/>
              <a:buChar char="•"/>
            </a:pPr>
            <a:r>
              <a:rPr lang="en-US" b="1" dirty="0">
                <a:latin typeface="Oracle Sans" panose="020B0503020204020204" pitchFamily="34" charset="0"/>
                <a:cs typeface="Oracle Sans" panose="020B0503020204020204" pitchFamily="34" charset="0"/>
              </a:rPr>
              <a:t>Developer Efficiency:</a:t>
            </a:r>
            <a:r>
              <a:rPr lang="en-US" dirty="0">
                <a:latin typeface="Oracle Sans" panose="020B0503020204020204" pitchFamily="34" charset="0"/>
                <a:cs typeface="Oracle Sans" panose="020B0503020204020204" pitchFamily="34" charset="0"/>
              </a:rPr>
              <a:t> Developers save time by building once against MCP, eliminating the need for custom integrations for every AI-tool pair.</a:t>
            </a:r>
          </a:p>
          <a:p>
            <a:pPr algn="just"/>
            <a:endParaRPr lang="en-US" dirty="0">
              <a:latin typeface="Oracle Sans" panose="020B0503020204020204" pitchFamily="34" charset="0"/>
              <a:cs typeface="Oracle Sans" panose="020B0503020204020204" pitchFamily="34" charset="0"/>
            </a:endParaRPr>
          </a:p>
          <a:p>
            <a:pPr marL="285750" indent="-285750" algn="just">
              <a:buFont typeface="Arial" panose="020B0604020202020204" pitchFamily="34" charset="0"/>
              <a:buChar char="•"/>
            </a:pPr>
            <a:r>
              <a:rPr lang="en-US" b="1" dirty="0">
                <a:latin typeface="Oracle Sans" panose="020B0503020204020204" pitchFamily="34" charset="0"/>
                <a:cs typeface="Oracle Sans" panose="020B0503020204020204" pitchFamily="34" charset="0"/>
              </a:rPr>
              <a:t>Enhanced Productivity:</a:t>
            </a:r>
            <a:r>
              <a:rPr lang="en-US" dirty="0">
                <a:latin typeface="Oracle Sans" panose="020B0503020204020204" pitchFamily="34" charset="0"/>
                <a:cs typeface="Oracle Sans" panose="020B0503020204020204" pitchFamily="34" charset="0"/>
              </a:rPr>
              <a:t> Businesses gain smarter AI assistants that can act on live data, significantly improving productivity and user experience.</a:t>
            </a:r>
          </a:p>
          <a:p>
            <a:pPr algn="just"/>
            <a:endParaRPr lang="en-US" dirty="0">
              <a:latin typeface="Oracle Sans" panose="020B0503020204020204" pitchFamily="34" charset="0"/>
              <a:cs typeface="Oracle Sans" panose="020B0503020204020204" pitchFamily="34" charset="0"/>
            </a:endParaRPr>
          </a:p>
        </p:txBody>
      </p:sp>
      <p:pic>
        <p:nvPicPr>
          <p:cNvPr id="8" name="Picture 7">
            <a:extLst>
              <a:ext uri="{FF2B5EF4-FFF2-40B4-BE49-F238E27FC236}">
                <a16:creationId xmlns:a16="http://schemas.microsoft.com/office/drawing/2014/main" id="{F865A412-BE72-5424-A428-DEB7FA008DEE}"/>
              </a:ext>
            </a:extLst>
          </p:cNvPr>
          <p:cNvPicPr>
            <a:picLocks noChangeAspect="1"/>
          </p:cNvPicPr>
          <p:nvPr/>
        </p:nvPicPr>
        <p:blipFill>
          <a:blip r:embed="rId3"/>
          <a:stretch>
            <a:fillRect/>
          </a:stretch>
        </p:blipFill>
        <p:spPr>
          <a:xfrm>
            <a:off x="7024744" y="1650739"/>
            <a:ext cx="4392706" cy="4042563"/>
          </a:xfrm>
          <a:prstGeom prst="rect">
            <a:avLst/>
          </a:prstGeom>
        </p:spPr>
      </p:pic>
      <p:sp>
        <p:nvSpPr>
          <p:cNvPr id="9" name="TextBox 8">
            <a:extLst>
              <a:ext uri="{FF2B5EF4-FFF2-40B4-BE49-F238E27FC236}">
                <a16:creationId xmlns:a16="http://schemas.microsoft.com/office/drawing/2014/main" id="{57904D3C-4BB7-0F5F-22DD-76897A2B0B30}"/>
              </a:ext>
            </a:extLst>
          </p:cNvPr>
          <p:cNvSpPr txBox="1"/>
          <p:nvPr/>
        </p:nvSpPr>
        <p:spPr>
          <a:xfrm>
            <a:off x="448127" y="6092954"/>
            <a:ext cx="9610271" cy="646331"/>
          </a:xfrm>
          <a:prstGeom prst="rect">
            <a:avLst/>
          </a:prstGeom>
          <a:noFill/>
        </p:spPr>
        <p:txBody>
          <a:bodyPr wrap="square" rtlCol="0">
            <a:spAutoFit/>
          </a:bodyPr>
          <a:lstStyle/>
          <a:p>
            <a:r>
              <a:rPr lang="en-US" dirty="0"/>
              <a:t>MCP transforms AI from a static tool into a dynamic, active participant in daily operations.</a:t>
            </a:r>
          </a:p>
          <a:p>
            <a:endParaRPr lang="en-US" dirty="0"/>
          </a:p>
        </p:txBody>
      </p:sp>
    </p:spTree>
    <p:extLst>
      <p:ext uri="{BB962C8B-B14F-4D97-AF65-F5344CB8AC3E}">
        <p14:creationId xmlns:p14="http://schemas.microsoft.com/office/powerpoint/2010/main" val="19214881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0FC05-01E7-5302-2C04-1756B800F8B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BD652B-305D-E5D1-A8A1-5E257F5A3242}"/>
              </a:ext>
            </a:extLst>
          </p:cNvPr>
          <p:cNvSpPr>
            <a:spLocks noGrp="1"/>
          </p:cNvSpPr>
          <p:nvPr>
            <p:ph type="sldNum" sz="quarter" idx="17"/>
          </p:nvPr>
        </p:nvSpPr>
        <p:spPr/>
        <p:txBody>
          <a:bodyPr/>
          <a:lstStyle/>
          <a:p>
            <a:fld id="{345D60D9-5372-5F40-9443-0F9AE5BDC3C8}" type="slidenum">
              <a:rPr lang="en-US" smtClean="0"/>
              <a:pPr/>
              <a:t>9</a:t>
            </a:fld>
            <a:endParaRPr lang="en-US" dirty="0"/>
          </a:p>
        </p:txBody>
      </p:sp>
      <p:sp>
        <p:nvSpPr>
          <p:cNvPr id="4" name="Footer Placeholder 3">
            <a:extLst>
              <a:ext uri="{FF2B5EF4-FFF2-40B4-BE49-F238E27FC236}">
                <a16:creationId xmlns:a16="http://schemas.microsoft.com/office/drawing/2014/main" id="{5B2B6116-D0F4-8087-C138-FFBDC64E47E2}"/>
              </a:ext>
            </a:extLst>
          </p:cNvPr>
          <p:cNvSpPr>
            <a:spLocks noGrp="1"/>
          </p:cNvSpPr>
          <p:nvPr>
            <p:ph type="ftr" sz="quarter" idx="16"/>
          </p:nvPr>
        </p:nvSpPr>
        <p:spPr>
          <a:xfrm>
            <a:off x="1127759" y="6423978"/>
            <a:ext cx="7302257" cy="365125"/>
          </a:xfrm>
        </p:spPr>
        <p:txBody>
          <a:bodyPr/>
          <a:lstStyle/>
          <a:p>
            <a:r>
              <a:rPr lang="en-US" dirty="0"/>
              <a:t>Copyright © 2025, Oracle and/or its affiliates |  Confidential: Internal/Restricted/Highly Restricted</a:t>
            </a:r>
          </a:p>
        </p:txBody>
      </p:sp>
      <p:sp>
        <p:nvSpPr>
          <p:cNvPr id="5" name="Rectangle 4">
            <a:extLst>
              <a:ext uri="{FF2B5EF4-FFF2-40B4-BE49-F238E27FC236}">
                <a16:creationId xmlns:a16="http://schemas.microsoft.com/office/drawing/2014/main" id="{C151D793-4C5A-60FD-D863-E3A41747735E}"/>
              </a:ext>
            </a:extLst>
          </p:cNvPr>
          <p:cNvSpPr/>
          <p:nvPr/>
        </p:nvSpPr>
        <p:spPr>
          <a:xfrm>
            <a:off x="69957" y="118715"/>
            <a:ext cx="12052085" cy="6720521"/>
          </a:xfrm>
          <a:prstGeom prst="rect">
            <a:avLst/>
          </a:prstGeom>
          <a:solidFill>
            <a:srgbClr val="0E27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BFEFEFD1-AF89-E6DF-C821-5EEB3D0E8B95}"/>
              </a:ext>
            </a:extLst>
          </p:cNvPr>
          <p:cNvSpPr txBox="1"/>
          <p:nvPr/>
        </p:nvSpPr>
        <p:spPr>
          <a:xfrm>
            <a:off x="448128" y="604299"/>
            <a:ext cx="9610271" cy="1046440"/>
          </a:xfrm>
          <a:prstGeom prst="rect">
            <a:avLst/>
          </a:prstGeom>
          <a:noFill/>
        </p:spPr>
        <p:txBody>
          <a:bodyPr wrap="square" rtlCol="0">
            <a:spAutoFit/>
          </a:bodyPr>
          <a:lstStyle/>
          <a:p>
            <a:r>
              <a:rPr lang="en-US" b="1" dirty="0">
                <a:solidFill>
                  <a:srgbClr val="C74633"/>
                </a:solidFill>
                <a:latin typeface="Oracle Sans" panose="020B0503020204020204" pitchFamily="34" charset="0"/>
                <a:cs typeface="Oracle Sans" panose="020B0503020204020204" pitchFamily="34" charset="0"/>
              </a:rPr>
              <a:t>CHAPTER 6</a:t>
            </a:r>
          </a:p>
          <a:p>
            <a:r>
              <a:rPr lang="en-US" sz="4400" b="1" dirty="0">
                <a:solidFill>
                  <a:srgbClr val="C74633"/>
                </a:solidFill>
                <a:latin typeface="Oracle Sans" panose="020B0503020204020204" pitchFamily="34" charset="0"/>
                <a:cs typeface="Oracle Sans" panose="020B0503020204020204" pitchFamily="34" charset="0"/>
              </a:rPr>
              <a:t>Conclusion</a:t>
            </a:r>
          </a:p>
        </p:txBody>
      </p:sp>
      <p:sp>
        <p:nvSpPr>
          <p:cNvPr id="65" name="TextBox 64">
            <a:extLst>
              <a:ext uri="{FF2B5EF4-FFF2-40B4-BE49-F238E27FC236}">
                <a16:creationId xmlns:a16="http://schemas.microsoft.com/office/drawing/2014/main" id="{DC09BD5E-BC70-7355-04D4-D52B0294D346}"/>
              </a:ext>
            </a:extLst>
          </p:cNvPr>
          <p:cNvSpPr txBox="1"/>
          <p:nvPr/>
        </p:nvSpPr>
        <p:spPr>
          <a:xfrm>
            <a:off x="8417876" y="4145894"/>
            <a:ext cx="189642" cy="523220"/>
          </a:xfrm>
          <a:prstGeom prst="rect">
            <a:avLst/>
          </a:prstGeom>
          <a:noFill/>
        </p:spPr>
        <p:txBody>
          <a:bodyPr wrap="square" rtlCol="0">
            <a:spAutoFit/>
          </a:bodyPr>
          <a:lstStyle/>
          <a:p>
            <a:r>
              <a:rPr lang="en-US" sz="2800" b="1" dirty="0">
                <a:solidFill>
                  <a:srgbClr val="0E2741"/>
                </a:solidFill>
              </a:rPr>
              <a:t>2</a:t>
            </a:r>
          </a:p>
        </p:txBody>
      </p:sp>
      <p:sp>
        <p:nvSpPr>
          <p:cNvPr id="2" name="TextBox 1">
            <a:extLst>
              <a:ext uri="{FF2B5EF4-FFF2-40B4-BE49-F238E27FC236}">
                <a16:creationId xmlns:a16="http://schemas.microsoft.com/office/drawing/2014/main" id="{85F579A4-3BC4-9318-B53F-97A9877253C6}"/>
              </a:ext>
            </a:extLst>
          </p:cNvPr>
          <p:cNvSpPr txBox="1"/>
          <p:nvPr/>
        </p:nvSpPr>
        <p:spPr>
          <a:xfrm>
            <a:off x="448128" y="1643394"/>
            <a:ext cx="6060141" cy="4108817"/>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t>MCP provides a </a:t>
            </a:r>
            <a:r>
              <a:rPr lang="en-US" b="1" dirty="0"/>
              <a:t>standardized way</a:t>
            </a:r>
            <a:r>
              <a:rPr lang="en-US" dirty="0"/>
              <a:t> for models, tools, and systems to communicate.</a:t>
            </a:r>
          </a:p>
          <a:p>
            <a:pPr marL="285750" indent="-285750" algn="just">
              <a:lnSpc>
                <a:spcPct val="150000"/>
              </a:lnSpc>
              <a:buFont typeface="Arial" panose="020B0604020202020204" pitchFamily="34" charset="0"/>
              <a:buChar char="•"/>
            </a:pPr>
            <a:endParaRPr lang="en-US" dirty="0"/>
          </a:p>
          <a:p>
            <a:pPr marL="285750" indent="-285750" algn="just">
              <a:lnSpc>
                <a:spcPct val="150000"/>
              </a:lnSpc>
              <a:buFont typeface="Arial" panose="020B0604020202020204" pitchFamily="34" charset="0"/>
              <a:buChar char="•"/>
            </a:pPr>
            <a:r>
              <a:rPr lang="en-US" dirty="0"/>
              <a:t>With </a:t>
            </a:r>
            <a:r>
              <a:rPr lang="en-US" b="1" dirty="0"/>
              <a:t>resources, tools, and prompts</a:t>
            </a:r>
            <a:r>
              <a:rPr lang="en-US" dirty="0"/>
              <a:t>, it creates a </a:t>
            </a:r>
            <a:r>
              <a:rPr lang="en-US" b="1" dirty="0"/>
              <a:t>bridge between AI and real-world workflows</a:t>
            </a:r>
            <a:r>
              <a:rPr lang="en-US" dirty="0"/>
              <a:t>.</a:t>
            </a:r>
          </a:p>
          <a:p>
            <a:pPr marL="285750" indent="-285750" algn="just">
              <a:lnSpc>
                <a:spcPct val="150000"/>
              </a:lnSpc>
              <a:buFont typeface="Arial" panose="020B0604020202020204" pitchFamily="34" charset="0"/>
              <a:buChar char="•"/>
            </a:pPr>
            <a:endParaRPr lang="en-US" dirty="0"/>
          </a:p>
          <a:p>
            <a:pPr marL="285750" indent="-285750" algn="just">
              <a:lnSpc>
                <a:spcPct val="150000"/>
              </a:lnSpc>
              <a:buFont typeface="Arial" panose="020B0604020202020204" pitchFamily="34" charset="0"/>
              <a:buChar char="•"/>
            </a:pPr>
            <a:r>
              <a:rPr lang="en-US" dirty="0"/>
              <a:t>MCP ensures </a:t>
            </a:r>
            <a:r>
              <a:rPr lang="en-US" b="1" dirty="0"/>
              <a:t>interoperability, flexibility, and scalability</a:t>
            </a:r>
            <a:r>
              <a:rPr lang="en-US" dirty="0"/>
              <a:t>, making it easier to build powerful AI-driven applications.</a:t>
            </a:r>
          </a:p>
          <a:p>
            <a:pPr algn="just"/>
            <a:endParaRPr lang="en-US" dirty="0">
              <a:latin typeface="Oracle Sans" panose="020B0503020204020204" pitchFamily="34" charset="0"/>
              <a:cs typeface="Oracle Sans" panose="020B0503020204020204" pitchFamily="34" charset="0"/>
            </a:endParaRPr>
          </a:p>
        </p:txBody>
      </p:sp>
      <p:pic>
        <p:nvPicPr>
          <p:cNvPr id="8" name="Picture 7">
            <a:extLst>
              <a:ext uri="{FF2B5EF4-FFF2-40B4-BE49-F238E27FC236}">
                <a16:creationId xmlns:a16="http://schemas.microsoft.com/office/drawing/2014/main" id="{6495C8E3-582D-2C7C-3133-01E6E6713E68}"/>
              </a:ext>
            </a:extLst>
          </p:cNvPr>
          <p:cNvPicPr>
            <a:picLocks noChangeAspect="1"/>
          </p:cNvPicPr>
          <p:nvPr/>
        </p:nvPicPr>
        <p:blipFill>
          <a:blip r:embed="rId3"/>
          <a:stretch>
            <a:fillRect/>
          </a:stretch>
        </p:blipFill>
        <p:spPr>
          <a:xfrm>
            <a:off x="7024744" y="1650739"/>
            <a:ext cx="4392706" cy="4042563"/>
          </a:xfrm>
          <a:prstGeom prst="rect">
            <a:avLst/>
          </a:prstGeom>
        </p:spPr>
      </p:pic>
      <p:sp>
        <p:nvSpPr>
          <p:cNvPr id="9" name="TextBox 8">
            <a:extLst>
              <a:ext uri="{FF2B5EF4-FFF2-40B4-BE49-F238E27FC236}">
                <a16:creationId xmlns:a16="http://schemas.microsoft.com/office/drawing/2014/main" id="{72B72787-D9A9-ED76-EA59-43279F427DD3}"/>
              </a:ext>
            </a:extLst>
          </p:cNvPr>
          <p:cNvSpPr txBox="1"/>
          <p:nvPr/>
        </p:nvSpPr>
        <p:spPr>
          <a:xfrm>
            <a:off x="448127" y="6092954"/>
            <a:ext cx="9610271" cy="369332"/>
          </a:xfrm>
          <a:prstGeom prst="rect">
            <a:avLst/>
          </a:prstGeom>
          <a:noFill/>
        </p:spPr>
        <p:txBody>
          <a:bodyPr wrap="square" rtlCol="0">
            <a:spAutoFit/>
          </a:bodyPr>
          <a:lstStyle/>
          <a:p>
            <a:pPr algn="just"/>
            <a:r>
              <a:rPr lang="en-US" dirty="0"/>
              <a:t>In essence, MCP is not just a protocol – it’s a </a:t>
            </a:r>
            <a:r>
              <a:rPr lang="en-US" b="1" dirty="0"/>
              <a:t>foundation for the future of AI integration</a:t>
            </a:r>
            <a:r>
              <a:rPr lang="en-US" dirty="0"/>
              <a:t>.</a:t>
            </a:r>
            <a:endParaRPr lang="en-US" dirty="0">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10334811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1704</TotalTime>
  <Words>743</Words>
  <Application>Microsoft Macintosh PowerPoint</Application>
  <PresentationFormat>Widescreen</PresentationFormat>
  <Paragraphs>101</Paragraphs>
  <Slides>9</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Aptos Display</vt:lpstr>
      <vt:lpstr>Arial</vt:lpstr>
      <vt:lpstr>Calibri</vt:lpstr>
      <vt:lpstr>Oracle Sans</vt:lpstr>
      <vt:lpstr>Oracle Sans Tab</vt:lpstr>
      <vt:lpstr>Office Theme</vt:lpstr>
      <vt:lpstr>Model Context Protocol (MCP)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Ankit Dogra</dc:creator>
  <cp:lastModifiedBy>Anideep Kalia</cp:lastModifiedBy>
  <cp:revision>14</cp:revision>
  <cp:lastPrinted>2025-09-16T16:26:39Z</cp:lastPrinted>
  <dcterms:created xsi:type="dcterms:W3CDTF">2025-09-15T17:23:49Z</dcterms:created>
  <dcterms:modified xsi:type="dcterms:W3CDTF">2025-09-18T17:17:06Z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4de43ec-192a-49eb-8e54-baeb8c71bbbe_Enabled">
    <vt:lpwstr>true</vt:lpwstr>
  </property>
  <property fmtid="{D5CDD505-2E9C-101B-9397-08002B2CF9AE}" pid="3" name="MSIP_Label_a4de43ec-192a-49eb-8e54-baeb8c71bbbe_SetDate">
    <vt:lpwstr>2025-09-16T04:26:19Z</vt:lpwstr>
  </property>
  <property fmtid="{D5CDD505-2E9C-101B-9397-08002B2CF9AE}" pid="4" name="MSIP_Label_a4de43ec-192a-49eb-8e54-baeb8c71bbbe_Method">
    <vt:lpwstr>Standard</vt:lpwstr>
  </property>
  <property fmtid="{D5CDD505-2E9C-101B-9397-08002B2CF9AE}" pid="5" name="MSIP_Label_a4de43ec-192a-49eb-8e54-baeb8c71bbbe_Name">
    <vt:lpwstr>Confidential – Oracle Internal</vt:lpwstr>
  </property>
  <property fmtid="{D5CDD505-2E9C-101B-9397-08002B2CF9AE}" pid="6" name="MSIP_Label_a4de43ec-192a-49eb-8e54-baeb8c71bbbe_SiteId">
    <vt:lpwstr>4e2c6054-71cb-48f1-bd6c-3a9705aca71b</vt:lpwstr>
  </property>
  <property fmtid="{D5CDD505-2E9C-101B-9397-08002B2CF9AE}" pid="7" name="MSIP_Label_a4de43ec-192a-49eb-8e54-baeb8c71bbbe_ActionId">
    <vt:lpwstr>90107c08-76a8-4767-849a-1c7ddca0d85c</vt:lpwstr>
  </property>
  <property fmtid="{D5CDD505-2E9C-101B-9397-08002B2CF9AE}" pid="8" name="MSIP_Label_a4de43ec-192a-49eb-8e54-baeb8c71bbbe_ContentBits">
    <vt:lpwstr>2</vt:lpwstr>
  </property>
  <property fmtid="{D5CDD505-2E9C-101B-9397-08002B2CF9AE}" pid="9" name="MSIP_Label_a4de43ec-192a-49eb-8e54-baeb8c71bbbe_Tag">
    <vt:lpwstr>50, 3, 0, 1</vt:lpwstr>
  </property>
  <property fmtid="{D5CDD505-2E9C-101B-9397-08002B2CF9AE}" pid="10" name="ClassificationContentMarkingFooterLocations">
    <vt:lpwstr>Office Theme:8</vt:lpwstr>
  </property>
  <property fmtid="{D5CDD505-2E9C-101B-9397-08002B2CF9AE}" pid="11" name="ClassificationContentMarkingFooterText">
    <vt:lpwstr>Confidential – Oracle Internal</vt:lpwstr>
  </property>
</Properties>
</file>